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9" r:id="rId3"/>
    <p:sldId id="318" r:id="rId4"/>
    <p:sldId id="323" r:id="rId5"/>
    <p:sldId id="322" r:id="rId6"/>
    <p:sldId id="324" r:id="rId7"/>
    <p:sldId id="326" r:id="rId8"/>
    <p:sldId id="327" r:id="rId9"/>
    <p:sldId id="339" r:id="rId10"/>
    <p:sldId id="329" r:id="rId11"/>
    <p:sldId id="331" r:id="rId12"/>
    <p:sldId id="332" r:id="rId13"/>
    <p:sldId id="335" r:id="rId14"/>
    <p:sldId id="330" r:id="rId15"/>
    <p:sldId id="336" r:id="rId16"/>
    <p:sldId id="337" r:id="rId17"/>
    <p:sldId id="315"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69" autoAdjust="0"/>
    <p:restoredTop sz="95706" autoAdjust="0"/>
  </p:normalViewPr>
  <p:slideViewPr>
    <p:cSldViewPr>
      <p:cViewPr varScale="1">
        <p:scale>
          <a:sx n="95" d="100"/>
          <a:sy n="95" d="100"/>
        </p:scale>
        <p:origin x="182" y="-2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4741421"/>
            <a:ext cx="12191746" cy="2116576"/>
          </a:xfrm>
          <a:prstGeom prst="rect">
            <a:avLst/>
          </a:prstGeom>
        </p:spPr>
      </p:pic>
      <p:pic>
        <p:nvPicPr>
          <p:cNvPr id="17" name="bg object 17"/>
          <p:cNvPicPr/>
          <p:nvPr/>
        </p:nvPicPr>
        <p:blipFill>
          <a:blip r:embed="rId3" cstate="print"/>
          <a:stretch>
            <a:fillRect/>
          </a:stretch>
        </p:blipFill>
        <p:spPr>
          <a:xfrm>
            <a:off x="1834133" y="1759013"/>
            <a:ext cx="6211189" cy="4471670"/>
          </a:xfrm>
          <a:prstGeom prst="rect">
            <a:avLst/>
          </a:prstGeom>
        </p:spPr>
      </p:pic>
      <p:sp>
        <p:nvSpPr>
          <p:cNvPr id="2" name="Holder 2"/>
          <p:cNvSpPr>
            <a:spLocks noGrp="1"/>
          </p:cNvSpPr>
          <p:nvPr>
            <p:ph type="ctrTitle"/>
          </p:nvPr>
        </p:nvSpPr>
        <p:spPr>
          <a:xfrm>
            <a:off x="609091" y="185369"/>
            <a:ext cx="7578090" cy="757555"/>
          </a:xfrm>
          <a:prstGeom prst="rect">
            <a:avLst/>
          </a:prstGeom>
        </p:spPr>
        <p:txBody>
          <a:bodyPr wrap="square" lIns="0" tIns="0" rIns="0" bIns="0">
            <a:spAutoFit/>
          </a:bodyPr>
          <a:lstStyle>
            <a:lvl1pPr>
              <a:defRPr sz="4800" b="1" i="0">
                <a:solidFill>
                  <a:srgbClr val="359DD6"/>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359DD6"/>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359DD6"/>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359DD6"/>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4741421"/>
            <a:ext cx="12191746" cy="2116576"/>
          </a:xfrm>
          <a:prstGeom prst="rect">
            <a:avLst/>
          </a:prstGeom>
        </p:spPr>
      </p:pic>
      <p:sp>
        <p:nvSpPr>
          <p:cNvPr id="2" name="Holder 2"/>
          <p:cNvSpPr>
            <a:spLocks noGrp="1"/>
          </p:cNvSpPr>
          <p:nvPr>
            <p:ph type="title"/>
          </p:nvPr>
        </p:nvSpPr>
        <p:spPr>
          <a:xfrm>
            <a:off x="609091" y="185369"/>
            <a:ext cx="10973816" cy="757555"/>
          </a:xfrm>
          <a:prstGeom prst="rect">
            <a:avLst/>
          </a:prstGeom>
        </p:spPr>
        <p:txBody>
          <a:bodyPr wrap="square" lIns="0" tIns="0" rIns="0" bIns="0">
            <a:spAutoFit/>
          </a:bodyPr>
          <a:lstStyle>
            <a:lvl1pPr>
              <a:defRPr sz="4800" b="1" i="0">
                <a:solidFill>
                  <a:srgbClr val="359DD6"/>
                </a:solidFill>
                <a:latin typeface="Times New Roman"/>
                <a:cs typeface="Times New Roman"/>
              </a:defRPr>
            </a:lvl1pPr>
          </a:lstStyle>
          <a:p>
            <a:endParaRPr/>
          </a:p>
        </p:txBody>
      </p:sp>
      <p:sp>
        <p:nvSpPr>
          <p:cNvPr id="3" name="Holder 3"/>
          <p:cNvSpPr>
            <a:spLocks noGrp="1"/>
          </p:cNvSpPr>
          <p:nvPr>
            <p:ph type="body" idx="1"/>
          </p:nvPr>
        </p:nvSpPr>
        <p:spPr>
          <a:xfrm>
            <a:off x="1066291" y="1123866"/>
            <a:ext cx="8070215" cy="359664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11/18/2024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1040" y="6586741"/>
            <a:ext cx="127635" cy="255904"/>
          </a:xfrm>
          <a:prstGeom prst="rect">
            <a:avLst/>
          </a:prstGeom>
        </p:spPr>
        <p:txBody>
          <a:bodyPr vert="horz" wrap="square" lIns="0" tIns="0" rIns="0" bIns="0" rtlCol="0">
            <a:spAutoFit/>
          </a:bodyPr>
          <a:lstStyle/>
          <a:p>
            <a:pPr>
              <a:lnSpc>
                <a:spcPts val="1989"/>
              </a:lnSpc>
            </a:pPr>
            <a:r>
              <a:rPr sz="1800" spc="-50" dirty="0">
                <a:latin typeface="Arial MT"/>
                <a:cs typeface="Arial MT"/>
              </a:rPr>
              <a:t>2</a:t>
            </a:r>
            <a:endParaRPr sz="1800">
              <a:latin typeface="Arial MT"/>
              <a:cs typeface="Arial MT"/>
            </a:endParaRPr>
          </a:p>
        </p:txBody>
      </p:sp>
      <p:pic>
        <p:nvPicPr>
          <p:cNvPr id="3" name="object 3"/>
          <p:cNvPicPr/>
          <p:nvPr/>
        </p:nvPicPr>
        <p:blipFill>
          <a:blip r:embed="rId2" cstate="print"/>
          <a:stretch>
            <a:fillRect/>
          </a:stretch>
        </p:blipFill>
        <p:spPr>
          <a:xfrm>
            <a:off x="0" y="0"/>
            <a:ext cx="12191999" cy="6857996"/>
          </a:xfrm>
          <a:prstGeom prst="rect">
            <a:avLst/>
          </a:prstGeom>
        </p:spPr>
      </p:pic>
      <p:sp>
        <p:nvSpPr>
          <p:cNvPr id="11" name="Title 10">
            <a:extLst>
              <a:ext uri="{FF2B5EF4-FFF2-40B4-BE49-F238E27FC236}">
                <a16:creationId xmlns:a16="http://schemas.microsoft.com/office/drawing/2014/main" id="{3A126615-84EB-0E6F-DAF4-25B7230003EF}"/>
              </a:ext>
            </a:extLst>
          </p:cNvPr>
          <p:cNvSpPr>
            <a:spLocks noGrp="1"/>
          </p:cNvSpPr>
          <p:nvPr>
            <p:ph type="title"/>
          </p:nvPr>
        </p:nvSpPr>
        <p:spPr>
          <a:xfrm>
            <a:off x="990600" y="609600"/>
            <a:ext cx="10287000" cy="1292662"/>
          </a:xfrm>
        </p:spPr>
        <p:txBody>
          <a:bodyPr/>
          <a:lstStyle/>
          <a:p>
            <a:pPr algn="ctr"/>
            <a:r>
              <a:rPr lang="en-GB" sz="4200" b="0" dirty="0">
                <a:solidFill>
                  <a:schemeClr val="accent5">
                    <a:lumMod val="50000"/>
                  </a:schemeClr>
                </a:solidFill>
                <a:latin typeface="Times New Roman" panose="02020603050405020304" pitchFamily="18" charset="0"/>
                <a:cs typeface="Times New Roman" panose="02020603050405020304" pitchFamily="18" charset="0"/>
              </a:rPr>
              <a:t>Enhancing Automated Driving Systems Through Advanced Testing and Validation"</a:t>
            </a:r>
            <a:endParaRPr lang="en-GB" sz="4200" dirty="0">
              <a:solidFill>
                <a:schemeClr val="accent5">
                  <a:lumMod val="50000"/>
                </a:schemeClr>
              </a:solidFill>
            </a:endParaRPr>
          </a:p>
        </p:txBody>
      </p:sp>
      <p:sp>
        <p:nvSpPr>
          <p:cNvPr id="12" name="Title 1">
            <a:extLst>
              <a:ext uri="{FF2B5EF4-FFF2-40B4-BE49-F238E27FC236}">
                <a16:creationId xmlns:a16="http://schemas.microsoft.com/office/drawing/2014/main" id="{5203DF1E-A13D-32AD-0151-45AB7ED49699}"/>
              </a:ext>
            </a:extLst>
          </p:cNvPr>
          <p:cNvSpPr txBox="1">
            <a:spLocks/>
          </p:cNvSpPr>
          <p:nvPr/>
        </p:nvSpPr>
        <p:spPr>
          <a:xfrm>
            <a:off x="2207559" y="1203045"/>
            <a:ext cx="6391719" cy="1576013"/>
          </a:xfrm>
          <a:prstGeom prst="rect">
            <a:avLst/>
          </a:prstGeom>
        </p:spPr>
        <p:txBody>
          <a:bodyPr wrap="square" lIns="0" tIns="0" rIns="0" bIns="0">
            <a:noAutofit/>
          </a:bodyPr>
          <a:lstStyle>
            <a:lvl1pPr>
              <a:defRPr sz="4800" b="1" i="0">
                <a:solidFill>
                  <a:srgbClr val="359DD6"/>
                </a:solidFill>
                <a:latin typeface="Times New Roman"/>
                <a:ea typeface="+mj-ea"/>
                <a:cs typeface="Times New Roman"/>
              </a:defRPr>
            </a:lvl1pPr>
          </a:lstStyle>
          <a:p>
            <a:br>
              <a:rPr lang="en-IN" sz="4400" b="0" dirty="0">
                <a:latin typeface="Times New Roman" panose="02020603050405020304" pitchFamily="18" charset="0"/>
                <a:cs typeface="Times New Roman" panose="02020603050405020304" pitchFamily="18" charset="0"/>
              </a:rPr>
            </a:br>
            <a:r>
              <a:rPr lang="en-US" sz="4400" b="0" dirty="0">
                <a:latin typeface="Times New Roman" panose="02020603050405020304" pitchFamily="18" charset="0"/>
                <a:cs typeface="Times New Roman" panose="02020603050405020304" pitchFamily="18" charset="0"/>
              </a:rPr>
              <a:t> </a:t>
            </a:r>
            <a:endParaRPr lang="en-IN" sz="4400" dirty="0">
              <a:latin typeface="Times New Roman" panose="02020603050405020304" pitchFamily="18" charset="0"/>
              <a:cs typeface="Times New Roman" panose="02020603050405020304" pitchFamily="18" charset="0"/>
            </a:endParaRPr>
          </a:p>
        </p:txBody>
      </p:sp>
      <p:sp>
        <p:nvSpPr>
          <p:cNvPr id="13" name="TextBox 9">
            <a:extLst>
              <a:ext uri="{FF2B5EF4-FFF2-40B4-BE49-F238E27FC236}">
                <a16:creationId xmlns:a16="http://schemas.microsoft.com/office/drawing/2014/main" id="{9DC8C18B-69A1-A2C5-1833-5F9F5803F7FB}"/>
              </a:ext>
            </a:extLst>
          </p:cNvPr>
          <p:cNvSpPr txBox="1"/>
          <p:nvPr/>
        </p:nvSpPr>
        <p:spPr>
          <a:xfrm>
            <a:off x="798724" y="2370323"/>
            <a:ext cx="5118846" cy="165955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15000"/>
              </a:lnSpc>
            </a:pPr>
            <a:r>
              <a:rPr lang="en-US" sz="1800" b="1" dirty="0">
                <a:solidFill>
                  <a:schemeClr val="bg2">
                    <a:lumMod val="10000"/>
                    <a:alpha val="90000"/>
                  </a:schemeClr>
                </a:solidFill>
                <a:latin typeface="Times New Roman" panose="02020603050405020304" pitchFamily="18" charset="0"/>
                <a:cs typeface="Times New Roman" panose="02020603050405020304" pitchFamily="18" charset="0"/>
              </a:rPr>
              <a:t>Presented by: </a:t>
            </a:r>
          </a:p>
          <a:p>
            <a:pPr algn="l">
              <a:lnSpc>
                <a:spcPct val="115000"/>
              </a:lnSpc>
            </a:pPr>
            <a:r>
              <a:rPr lang="en-US" b="1" dirty="0">
                <a:solidFill>
                  <a:schemeClr val="bg2">
                    <a:lumMod val="10000"/>
                    <a:alpha val="90000"/>
                  </a:schemeClr>
                </a:solidFill>
                <a:latin typeface="Times New Roman" panose="02020603050405020304" pitchFamily="18" charset="0"/>
                <a:cs typeface="Times New Roman" panose="02020603050405020304" pitchFamily="18" charset="0"/>
              </a:rPr>
              <a:t>Sudip Kishan Sarker</a:t>
            </a:r>
            <a:r>
              <a:rPr lang="en-US" sz="1800" b="1" dirty="0">
                <a:solidFill>
                  <a:schemeClr val="bg2">
                    <a:lumMod val="10000"/>
                    <a:alpha val="90000"/>
                  </a:schemeClr>
                </a:solidFill>
                <a:latin typeface="Times New Roman" panose="02020603050405020304" pitchFamily="18" charset="0"/>
                <a:cs typeface="Times New Roman" panose="02020603050405020304" pitchFamily="18" charset="0"/>
              </a:rPr>
              <a:t>(</a:t>
            </a:r>
            <a:r>
              <a:rPr lang="en-US" b="1" dirty="0">
                <a:solidFill>
                  <a:schemeClr val="bg2">
                    <a:lumMod val="10000"/>
                    <a:alpha val="90000"/>
                  </a:schemeClr>
                </a:solidFill>
                <a:latin typeface="Times New Roman" panose="02020603050405020304" pitchFamily="18" charset="0"/>
                <a:cs typeface="Times New Roman" panose="02020603050405020304" pitchFamily="18" charset="0"/>
              </a:rPr>
              <a:t>P44000039)</a:t>
            </a:r>
          </a:p>
          <a:p>
            <a:pPr>
              <a:lnSpc>
                <a:spcPct val="115000"/>
              </a:lnSpc>
            </a:pPr>
            <a:r>
              <a:rPr lang="en-US" sz="1800" b="1" dirty="0" err="1">
                <a:solidFill>
                  <a:schemeClr val="bg2">
                    <a:lumMod val="10000"/>
                    <a:alpha val="90000"/>
                  </a:schemeClr>
                </a:solidFill>
                <a:latin typeface="Times New Roman" panose="02020603050405020304" pitchFamily="18" charset="0"/>
                <a:cs typeface="Times New Roman" panose="02020603050405020304" pitchFamily="18" charset="0"/>
              </a:rPr>
              <a:t>Niloy</a:t>
            </a:r>
            <a:r>
              <a:rPr lang="en-US" sz="1800" b="1" dirty="0">
                <a:solidFill>
                  <a:schemeClr val="bg2">
                    <a:lumMod val="10000"/>
                    <a:alpha val="90000"/>
                  </a:schemeClr>
                </a:solidFill>
                <a:latin typeface="Times New Roman" panose="02020603050405020304" pitchFamily="18" charset="0"/>
                <a:cs typeface="Times New Roman" panose="02020603050405020304" pitchFamily="18" charset="0"/>
              </a:rPr>
              <a:t> Saha(P44000040)</a:t>
            </a:r>
            <a:br>
              <a:rPr lang="en-US" sz="1800" b="1" dirty="0">
                <a:solidFill>
                  <a:schemeClr val="bg2">
                    <a:lumMod val="10000"/>
                    <a:alpha val="90000"/>
                  </a:schemeClr>
                </a:solidFill>
                <a:latin typeface="Times New Roman" panose="02020603050405020304" pitchFamily="18" charset="0"/>
                <a:cs typeface="Times New Roman" panose="02020603050405020304" pitchFamily="18" charset="0"/>
              </a:rPr>
            </a:br>
            <a:r>
              <a:rPr lang="en-US" sz="1800" b="1" kern="1200" dirty="0">
                <a:solidFill>
                  <a:srgbClr val="272525"/>
                </a:solidFill>
                <a:effectLst/>
                <a:latin typeface="Times New Roman" panose="02020603050405020304" pitchFamily="18" charset="0"/>
                <a:ea typeface="Lato" panose="020F0502020204030203" pitchFamily="34" charset="0"/>
                <a:cs typeface="Times New Roman" panose="02020603050405020304" pitchFamily="18" charset="0"/>
              </a:rPr>
              <a:t>Md Enamul Hasan </a:t>
            </a:r>
            <a:r>
              <a:rPr lang="en-US" sz="1800" b="1" kern="1200" dirty="0" err="1">
                <a:solidFill>
                  <a:srgbClr val="272525"/>
                </a:solidFill>
                <a:effectLst/>
                <a:latin typeface="Times New Roman" panose="02020603050405020304" pitchFamily="18" charset="0"/>
                <a:ea typeface="Lato" panose="020F0502020204030203" pitchFamily="34" charset="0"/>
                <a:cs typeface="Times New Roman" panose="02020603050405020304" pitchFamily="18" charset="0"/>
              </a:rPr>
              <a:t>Sobuj</a:t>
            </a:r>
            <a:r>
              <a:rPr lang="en-US" sz="1800" b="1" kern="1200" dirty="0">
                <a:solidFill>
                  <a:srgbClr val="272525"/>
                </a:solidFill>
                <a:effectLst/>
                <a:latin typeface="Times New Roman" panose="02020603050405020304" pitchFamily="18" charset="0"/>
                <a:ea typeface="Lato" panose="020F0502020204030203" pitchFamily="34" charset="0"/>
                <a:cs typeface="Times New Roman" panose="02020603050405020304" pitchFamily="18" charset="0"/>
              </a:rPr>
              <a:t> (P44000060)</a:t>
            </a:r>
            <a:endPar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l">
              <a:lnSpc>
                <a:spcPct val="115000"/>
              </a:lnSpc>
            </a:pPr>
            <a:endParaRPr lang="en-US" sz="1800" dirty="0">
              <a:solidFill>
                <a:schemeClr val="bg2">
                  <a:lumMod val="10000"/>
                  <a:alpha val="90000"/>
                </a:schemeClr>
              </a:solidFill>
              <a:latin typeface="Times New Roman" panose="02020603050405020304" pitchFamily="18" charset="0"/>
              <a:cs typeface="Times New Roman" panose="02020603050405020304" pitchFamily="18" charset="0"/>
            </a:endParaRPr>
          </a:p>
        </p:txBody>
      </p:sp>
      <p:sp>
        <p:nvSpPr>
          <p:cNvPr id="14" name="TextBox 9">
            <a:extLst>
              <a:ext uri="{FF2B5EF4-FFF2-40B4-BE49-F238E27FC236}">
                <a16:creationId xmlns:a16="http://schemas.microsoft.com/office/drawing/2014/main" id="{038B5002-ECB9-CE74-C1A4-06CE16244E88}"/>
              </a:ext>
            </a:extLst>
          </p:cNvPr>
          <p:cNvSpPr txBox="1"/>
          <p:nvPr/>
        </p:nvSpPr>
        <p:spPr>
          <a:xfrm>
            <a:off x="8259797" y="2411832"/>
            <a:ext cx="3449287"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chemeClr val="bg2">
                    <a:lumMod val="10000"/>
                  </a:schemeClr>
                </a:solidFill>
                <a:latin typeface="Times New Roman" panose="02020603050405020304" pitchFamily="18" charset="0"/>
                <a:cs typeface="Times New Roman" panose="02020603050405020304" pitchFamily="18" charset="0"/>
              </a:rPr>
              <a:t>Under the supervision of</a:t>
            </a:r>
            <a:br>
              <a:rPr lang="en-US" b="1" dirty="0">
                <a:solidFill>
                  <a:schemeClr val="bg2">
                    <a:lumMod val="10000"/>
                  </a:schemeClr>
                </a:solidFill>
                <a:latin typeface="Times New Roman" panose="02020603050405020304" pitchFamily="18" charset="0"/>
                <a:cs typeface="Times New Roman" panose="02020603050405020304" pitchFamily="18" charset="0"/>
              </a:rPr>
            </a:br>
            <a:endParaRPr lang="en-US" b="1" dirty="0">
              <a:solidFill>
                <a:schemeClr val="bg2">
                  <a:lumMod val="10000"/>
                </a:schemeClr>
              </a:solidFill>
              <a:latin typeface="Times New Roman" panose="02020603050405020304" pitchFamily="18" charset="0"/>
              <a:cs typeface="Times New Roman" panose="02020603050405020304" pitchFamily="18" charset="0"/>
            </a:endParaRPr>
          </a:p>
          <a:p>
            <a:pPr algn="l"/>
            <a:r>
              <a:rPr lang="en-US" b="1" dirty="0">
                <a:solidFill>
                  <a:schemeClr val="bg2">
                    <a:lumMod val="10000"/>
                  </a:schemeClr>
                </a:solidFill>
                <a:latin typeface="Times New Roman" panose="02020603050405020304" pitchFamily="18" charset="0"/>
                <a:cs typeface="Times New Roman" panose="02020603050405020304" pitchFamily="18" charset="0"/>
              </a:rPr>
              <a:t>Prof. </a:t>
            </a:r>
            <a:r>
              <a:rPr lang="en-IN" b="1" dirty="0">
                <a:solidFill>
                  <a:schemeClr val="bg2">
                    <a:lumMod val="10000"/>
                  </a:schemeClr>
                </a:solidFill>
              </a:rPr>
              <a:t>LUIGI PARIOTA</a:t>
            </a:r>
          </a:p>
          <a:p>
            <a:r>
              <a:rPr lang="en-US" b="1" dirty="0">
                <a:solidFill>
                  <a:schemeClr val="bg2">
                    <a:lumMod val="10000"/>
                  </a:schemeClr>
                </a:solidFill>
                <a:latin typeface="Times New Roman" panose="02020603050405020304" pitchFamily="18" charset="0"/>
                <a:cs typeface="Times New Roman" panose="02020603050405020304" pitchFamily="18" charset="0"/>
              </a:rPr>
              <a:t>Prof. </a:t>
            </a:r>
            <a:r>
              <a:rPr lang="en-IN" b="1" dirty="0">
                <a:solidFill>
                  <a:schemeClr val="bg2">
                    <a:lumMod val="10000"/>
                  </a:schemeClr>
                </a:solidFill>
              </a:rPr>
              <a:t>ANGELO COPPOLA</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562070-26D3-1639-C3E8-97884002AD5A}"/>
              </a:ext>
            </a:extLst>
          </p:cNvPr>
          <p:cNvSpPr>
            <a:spLocks noGrp="1"/>
          </p:cNvSpPr>
          <p:nvPr>
            <p:ph type="title"/>
          </p:nvPr>
        </p:nvSpPr>
        <p:spPr>
          <a:xfrm>
            <a:off x="609091" y="185369"/>
            <a:ext cx="10973816" cy="1477328"/>
          </a:xfrm>
        </p:spPr>
        <p:txBody>
          <a:bodyPr/>
          <a:lstStyle/>
          <a:p>
            <a:r>
              <a:rPr lang="en-IN" u="sng" dirty="0">
                <a:latin typeface="Arial MT"/>
              </a:rPr>
              <a:t>Aim of the project</a:t>
            </a:r>
            <a:br>
              <a:rPr lang="en-IN" u="sng" dirty="0"/>
            </a:br>
            <a:endParaRPr lang="en-GB" dirty="0"/>
          </a:p>
        </p:txBody>
      </p:sp>
      <p:sp>
        <p:nvSpPr>
          <p:cNvPr id="8" name="Content Placeholder 2">
            <a:extLst>
              <a:ext uri="{FF2B5EF4-FFF2-40B4-BE49-F238E27FC236}">
                <a16:creationId xmlns:a16="http://schemas.microsoft.com/office/drawing/2014/main" id="{38E7DAC9-E19B-C3E5-31D3-78E8C8F6CC5D}"/>
              </a:ext>
            </a:extLst>
          </p:cNvPr>
          <p:cNvSpPr txBox="1">
            <a:spLocks/>
          </p:cNvSpPr>
          <p:nvPr/>
        </p:nvSpPr>
        <p:spPr>
          <a:xfrm>
            <a:off x="533400" y="1524000"/>
            <a:ext cx="10973816" cy="1538883"/>
          </a:xfrm>
          <a:prstGeom prst="rect">
            <a:avLst/>
          </a:prstGeom>
        </p:spPr>
        <p:txBody>
          <a:bodyPr wrap="square" lIns="0" tIns="0" rIns="0" bIns="0">
            <a:spAutoFit/>
          </a:bodyPr>
          <a:lstStyle>
            <a:lvl1pPr marL="0">
              <a:defRPr sz="2000" b="0" i="0">
                <a:solidFill>
                  <a:schemeClr val="tx1"/>
                </a:solidFill>
                <a:latin typeface="Arial MT"/>
                <a:ea typeface="+mn-ea"/>
                <a:cs typeface="Arial MT"/>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GB" b="1" dirty="0">
                <a:cs typeface="Times New Roman" panose="02020603050405020304" pitchFamily="18" charset="0"/>
              </a:rPr>
              <a:t>Main Aim: </a:t>
            </a:r>
            <a:r>
              <a:rPr lang="en-GB" dirty="0">
                <a:cs typeface="Times New Roman" panose="02020603050405020304" pitchFamily="18" charset="0"/>
              </a:rPr>
              <a:t>To rigorously evaluate and optimize automated driving systems under varied operational settings ensuring adaptability and robust performance.</a:t>
            </a:r>
          </a:p>
          <a:p>
            <a:endParaRPr lang="en-IN" dirty="0"/>
          </a:p>
          <a:p>
            <a:endParaRPr lang="en-IN" dirty="0"/>
          </a:p>
          <a:p>
            <a:endParaRPr lang="en-IN" dirty="0"/>
          </a:p>
        </p:txBody>
      </p:sp>
      <p:sp>
        <p:nvSpPr>
          <p:cNvPr id="2" name="Content Placeholder 2">
            <a:extLst>
              <a:ext uri="{FF2B5EF4-FFF2-40B4-BE49-F238E27FC236}">
                <a16:creationId xmlns:a16="http://schemas.microsoft.com/office/drawing/2014/main" id="{96DEDDA6-FBBE-495E-D67E-64734B1EE9EB}"/>
              </a:ext>
            </a:extLst>
          </p:cNvPr>
          <p:cNvSpPr txBox="1">
            <a:spLocks/>
          </p:cNvSpPr>
          <p:nvPr/>
        </p:nvSpPr>
        <p:spPr>
          <a:xfrm>
            <a:off x="509337" y="2565500"/>
            <a:ext cx="10721135" cy="3539430"/>
          </a:xfrm>
          <a:prstGeom prst="rect">
            <a:avLst/>
          </a:prstGeom>
        </p:spPr>
        <p:txBody>
          <a:bodyPr wrap="square" lIns="0" tIns="0" rIns="0" bIns="0">
            <a:spAutoFit/>
          </a:bodyPr>
          <a:lstStyle>
            <a:lvl1pPr marL="0">
              <a:defRPr sz="2000" b="0" i="0">
                <a:solidFill>
                  <a:schemeClr val="tx1"/>
                </a:solidFill>
                <a:latin typeface="Arial MT"/>
                <a:ea typeface="+mn-ea"/>
                <a:cs typeface="Arial MT"/>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GB" b="1" dirty="0">
                <a:cs typeface="Times New Roman" panose="02020603050405020304" pitchFamily="18" charset="0"/>
              </a:rPr>
              <a:t>Specific Objectives:</a:t>
            </a:r>
          </a:p>
          <a:p>
            <a:pPr algn="just"/>
            <a:endParaRPr lang="en-GB" dirty="0">
              <a:cs typeface="Times New Roman" panose="02020603050405020304" pitchFamily="18" charset="0"/>
            </a:endParaRPr>
          </a:p>
          <a:p>
            <a:pPr algn="just">
              <a:buFont typeface="Arial" panose="020B0604020202020204" pitchFamily="34" charset="0"/>
              <a:buChar char="•"/>
            </a:pPr>
            <a:r>
              <a:rPr lang="en-GB" b="1" dirty="0">
                <a:cs typeface="Times New Roman" panose="02020603050405020304" pitchFamily="18" charset="0"/>
              </a:rPr>
              <a:t>Dynamic System Parametrization:</a:t>
            </a:r>
            <a:endParaRPr lang="en-GB" dirty="0">
              <a:cs typeface="Times New Roman" panose="02020603050405020304" pitchFamily="18" charset="0"/>
            </a:endParaRPr>
          </a:p>
          <a:p>
            <a:pPr marL="742950" lvl="1" indent="-285750" algn="just">
              <a:buFont typeface="Arial" panose="020B0604020202020204" pitchFamily="34" charset="0"/>
              <a:buChar char="•"/>
            </a:pPr>
            <a:r>
              <a:rPr lang="en-GB" dirty="0">
                <a:latin typeface="Arial MT"/>
                <a:cs typeface="Times New Roman" panose="02020603050405020304" pitchFamily="18" charset="0"/>
              </a:rPr>
              <a:t>Investigate the impact of dynamic parametrization on control system performance, adjusting key variables such as vehicle mass, time gap, and standstill distance.</a:t>
            </a:r>
          </a:p>
          <a:p>
            <a:pPr algn="just">
              <a:buFont typeface="Arial" panose="020B0604020202020204" pitchFamily="34" charset="0"/>
              <a:buChar char="•"/>
            </a:pPr>
            <a:r>
              <a:rPr lang="en-GB" b="1" dirty="0">
                <a:cs typeface="Times New Roman" panose="02020603050405020304" pitchFamily="18" charset="0"/>
              </a:rPr>
              <a:t>Testing Under Uncertainty:</a:t>
            </a:r>
            <a:endParaRPr lang="en-GB" dirty="0">
              <a:cs typeface="Times New Roman" panose="02020603050405020304" pitchFamily="18" charset="0"/>
            </a:endParaRPr>
          </a:p>
          <a:p>
            <a:pPr marL="742950" lvl="1" indent="-285750" algn="just">
              <a:buFont typeface="Arial" panose="020B0604020202020204" pitchFamily="34" charset="0"/>
              <a:buChar char="•"/>
            </a:pPr>
            <a:r>
              <a:rPr lang="en-GB" dirty="0">
                <a:latin typeface="Arial MT"/>
                <a:cs typeface="Times New Roman" panose="02020603050405020304" pitchFamily="18" charset="0"/>
              </a:rPr>
              <a:t>Examine the system’s response to uncertainties, including variations in communication delays gauge its reliability and safety.</a:t>
            </a:r>
          </a:p>
          <a:p>
            <a:pPr lvl="1"/>
            <a:endParaRPr lang="en-GB" b="1" dirty="0">
              <a:latin typeface="Arial MT"/>
              <a:cs typeface="Times New Roman" panose="02020603050405020304" pitchFamily="18" charset="0"/>
            </a:endParaRPr>
          </a:p>
          <a:p>
            <a:endParaRPr lang="en-IN" dirty="0"/>
          </a:p>
          <a:p>
            <a:endParaRPr lang="en-IN" dirty="0"/>
          </a:p>
          <a:p>
            <a:endParaRPr lang="en-IN" dirty="0"/>
          </a:p>
        </p:txBody>
      </p:sp>
      <p:sp>
        <p:nvSpPr>
          <p:cNvPr id="9" name="TextBox 8">
            <a:extLst>
              <a:ext uri="{FF2B5EF4-FFF2-40B4-BE49-F238E27FC236}">
                <a16:creationId xmlns:a16="http://schemas.microsoft.com/office/drawing/2014/main" id="{D73B0D1F-2802-886D-0ECE-64A01347CE83}"/>
              </a:ext>
            </a:extLst>
          </p:cNvPr>
          <p:cNvSpPr txBox="1"/>
          <p:nvPr/>
        </p:nvSpPr>
        <p:spPr>
          <a:xfrm>
            <a:off x="545432" y="5181600"/>
            <a:ext cx="10808368" cy="923330"/>
          </a:xfrm>
          <a:prstGeom prst="rect">
            <a:avLst/>
          </a:prstGeom>
          <a:noFill/>
        </p:spPr>
        <p:txBody>
          <a:bodyPr wrap="square">
            <a:spAutoFit/>
          </a:bodyPr>
          <a:lstStyle/>
          <a:p>
            <a:pPr lvl="1" algn="just"/>
            <a:r>
              <a:rPr lang="en-GB" b="1" dirty="0"/>
              <a:t>NOTE: </a:t>
            </a:r>
            <a:r>
              <a:rPr lang="en-GB" dirty="0"/>
              <a:t>This project employs a comprehensive simulation approach using advanced tools like MATLAB/Simulink and SUMO to create realistic traffic scenarios, enabling us to pinpoint and address potential vulnerabilities in automated driving systems.</a:t>
            </a:r>
            <a:endParaRPr lang="en-GB" dirty="0">
              <a:latin typeface="Arial MT"/>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562070-26D3-1639-C3E8-97884002AD5A}"/>
              </a:ext>
            </a:extLst>
          </p:cNvPr>
          <p:cNvSpPr>
            <a:spLocks noGrp="1"/>
          </p:cNvSpPr>
          <p:nvPr>
            <p:ph type="title"/>
          </p:nvPr>
        </p:nvSpPr>
        <p:spPr>
          <a:xfrm>
            <a:off x="609091" y="185369"/>
            <a:ext cx="10973816" cy="1477328"/>
          </a:xfrm>
        </p:spPr>
        <p:txBody>
          <a:bodyPr/>
          <a:lstStyle/>
          <a:p>
            <a:br>
              <a:rPr lang="en-IN" u="sng" dirty="0">
                <a:latin typeface="Arial MT"/>
              </a:rPr>
            </a:br>
            <a:endParaRPr lang="en-GB" dirty="0">
              <a:latin typeface="Arial MT"/>
            </a:endParaRPr>
          </a:p>
        </p:txBody>
      </p:sp>
      <p:sp>
        <p:nvSpPr>
          <p:cNvPr id="2" name="Title 1">
            <a:extLst>
              <a:ext uri="{FF2B5EF4-FFF2-40B4-BE49-F238E27FC236}">
                <a16:creationId xmlns:a16="http://schemas.microsoft.com/office/drawing/2014/main" id="{D3F4EC5F-CD9B-8A6A-7737-EE7B904CD1ED}"/>
              </a:ext>
            </a:extLst>
          </p:cNvPr>
          <p:cNvSpPr txBox="1">
            <a:spLocks/>
          </p:cNvSpPr>
          <p:nvPr/>
        </p:nvSpPr>
        <p:spPr>
          <a:xfrm>
            <a:off x="323054" y="431590"/>
            <a:ext cx="11545889" cy="492443"/>
          </a:xfrm>
          <a:prstGeom prst="rect">
            <a:avLst/>
          </a:prstGeom>
        </p:spPr>
        <p:txBody>
          <a:bodyPr wrap="square" lIns="0" tIns="0" rIns="0" bIns="0">
            <a:spAutoFit/>
          </a:bodyPr>
          <a:lstStyle>
            <a:lvl1pPr>
              <a:defRPr sz="4800" b="1" i="0">
                <a:solidFill>
                  <a:srgbClr val="359DD6"/>
                </a:solidFill>
                <a:latin typeface="Times New Roman"/>
                <a:ea typeface="+mj-ea"/>
                <a:cs typeface="Times New Roman"/>
              </a:defRPr>
            </a:lvl1pPr>
          </a:lstStyle>
          <a:p>
            <a:pPr algn="ctr"/>
            <a:r>
              <a:rPr lang="en-GB" sz="3200" u="sng" dirty="0">
                <a:latin typeface="Arial MT"/>
              </a:rPr>
              <a:t>Integrating SUMO (</a:t>
            </a:r>
            <a:r>
              <a:rPr lang="en-GB" sz="3200" u="sng" dirty="0" err="1">
                <a:latin typeface="Arial MT"/>
              </a:rPr>
              <a:t>TraCI</a:t>
            </a:r>
            <a:r>
              <a:rPr lang="en-GB" sz="3200" u="sng" dirty="0">
                <a:latin typeface="Arial MT"/>
              </a:rPr>
              <a:t>) for Enhanced Simulation Realism</a:t>
            </a:r>
            <a:endParaRPr lang="en-IN" sz="3200" u="sng" dirty="0">
              <a:latin typeface="Arial MT"/>
            </a:endParaRPr>
          </a:p>
        </p:txBody>
      </p:sp>
      <p:sp>
        <p:nvSpPr>
          <p:cNvPr id="7" name="TextBox 6">
            <a:extLst>
              <a:ext uri="{FF2B5EF4-FFF2-40B4-BE49-F238E27FC236}">
                <a16:creationId xmlns:a16="http://schemas.microsoft.com/office/drawing/2014/main" id="{CF8CF4E3-459E-8D7E-ED8E-E77376AC1305}"/>
              </a:ext>
            </a:extLst>
          </p:cNvPr>
          <p:cNvSpPr txBox="1"/>
          <p:nvPr/>
        </p:nvSpPr>
        <p:spPr>
          <a:xfrm>
            <a:off x="762000" y="1339531"/>
            <a:ext cx="9404723" cy="646331"/>
          </a:xfrm>
          <a:prstGeom prst="rect">
            <a:avLst/>
          </a:prstGeom>
          <a:noFill/>
        </p:spPr>
        <p:txBody>
          <a:bodyPr wrap="square">
            <a:spAutoFit/>
          </a:bodyPr>
          <a:lstStyle/>
          <a:p>
            <a:pPr marL="285750" indent="-285750">
              <a:buFont typeface="Wingdings" panose="05000000000000000000" pitchFamily="2" charset="2"/>
              <a:buChar char="Ø"/>
            </a:pPr>
            <a:r>
              <a:rPr lang="en-GB">
                <a:latin typeface="Arial MT"/>
              </a:rPr>
              <a:t>To simulate realistic traffic conditions and dynamic environments, our project utilizes SUMO (Simulation of Urban MObility) coupled with the TraCI (Traffic Control Interface).</a:t>
            </a:r>
            <a:endParaRPr lang="en-GB" dirty="0">
              <a:latin typeface="Arial MT"/>
            </a:endParaRPr>
          </a:p>
        </p:txBody>
      </p:sp>
      <p:sp>
        <p:nvSpPr>
          <p:cNvPr id="11" name="TextBox 10">
            <a:extLst>
              <a:ext uri="{FF2B5EF4-FFF2-40B4-BE49-F238E27FC236}">
                <a16:creationId xmlns:a16="http://schemas.microsoft.com/office/drawing/2014/main" id="{0371FC82-F0A0-A0F5-3556-7099B7BD6B71}"/>
              </a:ext>
            </a:extLst>
          </p:cNvPr>
          <p:cNvSpPr txBox="1"/>
          <p:nvPr/>
        </p:nvSpPr>
        <p:spPr>
          <a:xfrm>
            <a:off x="914400" y="2136339"/>
            <a:ext cx="10591800" cy="1754326"/>
          </a:xfrm>
          <a:prstGeom prst="rect">
            <a:avLst/>
          </a:prstGeom>
          <a:noFill/>
        </p:spPr>
        <p:txBody>
          <a:bodyPr wrap="square">
            <a:spAutoFit/>
          </a:bodyPr>
          <a:lstStyle/>
          <a:p>
            <a:r>
              <a:rPr lang="en-GB" b="1" dirty="0">
                <a:latin typeface="Arial MT"/>
              </a:rPr>
              <a:t>Why Use SUMO (</a:t>
            </a:r>
            <a:r>
              <a:rPr lang="en-GB" b="1" dirty="0" err="1">
                <a:latin typeface="Arial MT"/>
              </a:rPr>
              <a:t>TraCI</a:t>
            </a:r>
            <a:r>
              <a:rPr lang="en-GB" b="1" dirty="0">
                <a:latin typeface="Arial MT"/>
              </a:rPr>
              <a:t>)?</a:t>
            </a:r>
          </a:p>
          <a:p>
            <a:endParaRPr lang="en-GB" b="1" dirty="0">
              <a:latin typeface="Arial MT"/>
            </a:endParaRPr>
          </a:p>
          <a:p>
            <a:pPr marL="742950" lvl="1" indent="-285750">
              <a:buFont typeface="Wingdings" panose="05000000000000000000" pitchFamily="2" charset="2"/>
              <a:buChar char="ü"/>
            </a:pPr>
            <a:r>
              <a:rPr lang="en-GB" dirty="0">
                <a:latin typeface="Arial MT"/>
              </a:rPr>
              <a:t>Facilitates the testing of automated vehicles in complex, changing traffic scenarios not easily replicable in controlled environments.</a:t>
            </a:r>
          </a:p>
          <a:p>
            <a:pPr marL="742950" lvl="1" indent="-285750">
              <a:buFont typeface="Wingdings" panose="05000000000000000000" pitchFamily="2" charset="2"/>
              <a:buChar char="ü"/>
            </a:pPr>
            <a:r>
              <a:rPr lang="en-GB" dirty="0">
                <a:latin typeface="Arial MT"/>
              </a:rPr>
              <a:t>Enables the integration of vehicular control algorithms with real-world traffic data, enhancing the validation of system adaptability and response accuracy.</a:t>
            </a:r>
          </a:p>
        </p:txBody>
      </p:sp>
      <p:sp>
        <p:nvSpPr>
          <p:cNvPr id="13" name="TextBox 12">
            <a:extLst>
              <a:ext uri="{FF2B5EF4-FFF2-40B4-BE49-F238E27FC236}">
                <a16:creationId xmlns:a16="http://schemas.microsoft.com/office/drawing/2014/main" id="{BECAA9D3-B035-E73F-508B-157DA1A5A721}"/>
              </a:ext>
            </a:extLst>
          </p:cNvPr>
          <p:cNvSpPr txBox="1"/>
          <p:nvPr/>
        </p:nvSpPr>
        <p:spPr>
          <a:xfrm>
            <a:off x="942474" y="4041142"/>
            <a:ext cx="10515600" cy="2031325"/>
          </a:xfrm>
          <a:prstGeom prst="rect">
            <a:avLst/>
          </a:prstGeom>
          <a:noFill/>
        </p:spPr>
        <p:txBody>
          <a:bodyPr wrap="square">
            <a:spAutoFit/>
          </a:bodyPr>
          <a:lstStyle/>
          <a:p>
            <a:r>
              <a:rPr lang="en-GB" b="1" dirty="0">
                <a:latin typeface="Arial MT"/>
              </a:rPr>
              <a:t>Applications in Our Project:</a:t>
            </a:r>
          </a:p>
          <a:p>
            <a:endParaRPr lang="en-GB" b="1" dirty="0">
              <a:latin typeface="Arial MT"/>
            </a:endParaRPr>
          </a:p>
          <a:p>
            <a:pPr marL="742950" lvl="1" indent="-285750">
              <a:buFont typeface="Wingdings" panose="05000000000000000000" pitchFamily="2" charset="2"/>
              <a:buChar char="ü"/>
            </a:pPr>
            <a:r>
              <a:rPr lang="en-GB" dirty="0">
                <a:latin typeface="Arial MT"/>
              </a:rPr>
              <a:t>SUMO is integrated within our MATLAB/Simulink simulation environment to create detailed and variable traffic scenarios that our automated driving systems must navigate.</a:t>
            </a:r>
          </a:p>
          <a:p>
            <a:pPr marL="742950" lvl="1" indent="-285750">
              <a:buFont typeface="Wingdings" panose="05000000000000000000" pitchFamily="2" charset="2"/>
              <a:buChar char="ü"/>
            </a:pPr>
            <a:r>
              <a:rPr lang="en-GB" dirty="0" err="1">
                <a:latin typeface="Arial MT"/>
              </a:rPr>
              <a:t>TraCI</a:t>
            </a:r>
            <a:r>
              <a:rPr lang="en-GB" dirty="0">
                <a:latin typeface="Arial MT"/>
              </a:rPr>
              <a:t> is used to dynamically alter traffic conditions and vehicle parameters during simulations, testing the system’s adaptability to sudden changes such as varying speeds, different vehicle densities.</a:t>
            </a:r>
          </a:p>
        </p:txBody>
      </p:sp>
    </p:spTree>
    <p:extLst>
      <p:ext uri="{BB962C8B-B14F-4D97-AF65-F5344CB8AC3E}">
        <p14:creationId xmlns:p14="http://schemas.microsoft.com/office/powerpoint/2010/main" val="3950653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7A2F9A-F8B5-61D3-4A29-9C8734905960}"/>
              </a:ext>
            </a:extLst>
          </p:cNvPr>
          <p:cNvSpPr>
            <a:spLocks noGrp="1"/>
          </p:cNvSpPr>
          <p:nvPr>
            <p:ph type="title"/>
          </p:nvPr>
        </p:nvSpPr>
        <p:spPr>
          <a:xfrm>
            <a:off x="1828800" y="381000"/>
            <a:ext cx="8780442" cy="492443"/>
          </a:xfrm>
        </p:spPr>
        <p:txBody>
          <a:bodyPr/>
          <a:lstStyle/>
          <a:p>
            <a:r>
              <a:rPr lang="en-GB" sz="3200" dirty="0">
                <a:latin typeface="Arial MT"/>
              </a:rPr>
              <a:t>Sampling in Example 1 - LHS Methodology</a:t>
            </a:r>
            <a:endParaRPr lang="en-GB" sz="3200" u="sng" dirty="0">
              <a:latin typeface="Arial MT"/>
            </a:endParaRPr>
          </a:p>
        </p:txBody>
      </p:sp>
      <p:sp>
        <p:nvSpPr>
          <p:cNvPr id="13" name="TextBox 12">
            <a:extLst>
              <a:ext uri="{FF2B5EF4-FFF2-40B4-BE49-F238E27FC236}">
                <a16:creationId xmlns:a16="http://schemas.microsoft.com/office/drawing/2014/main" id="{F2436D92-0557-5C3B-67D4-BAB825BB7B87}"/>
              </a:ext>
            </a:extLst>
          </p:cNvPr>
          <p:cNvSpPr txBox="1"/>
          <p:nvPr/>
        </p:nvSpPr>
        <p:spPr>
          <a:xfrm>
            <a:off x="457200" y="1524000"/>
            <a:ext cx="10744200" cy="3970318"/>
          </a:xfrm>
          <a:prstGeom prst="rect">
            <a:avLst/>
          </a:prstGeom>
          <a:noFill/>
        </p:spPr>
        <p:txBody>
          <a:bodyPr wrap="square">
            <a:spAutoFit/>
          </a:bodyPr>
          <a:lstStyle/>
          <a:p>
            <a:r>
              <a:rPr lang="en-GB" b="1" dirty="0">
                <a:latin typeface="Arial MT"/>
              </a:rPr>
              <a:t>Introduction to LHS: </a:t>
            </a:r>
            <a:r>
              <a:rPr lang="en-GB" dirty="0">
                <a:latin typeface="Arial MT"/>
              </a:rPr>
              <a:t>Latin Hypercube Sampling (LHS) is a statistical method used to generate a sample of possible collections of parameter values from a multidimensional distribution. It is designed to ensure that the entire range of each parameter is explored efficiently.</a:t>
            </a:r>
          </a:p>
          <a:p>
            <a:endParaRPr lang="en-GB" dirty="0">
              <a:latin typeface="Arial MT"/>
            </a:endParaRPr>
          </a:p>
          <a:p>
            <a:pPr marL="285750" indent="-285750">
              <a:buFont typeface="Wingdings" panose="05000000000000000000" pitchFamily="2" charset="2"/>
              <a:buChar char="v"/>
            </a:pPr>
            <a:r>
              <a:rPr lang="en-GB" b="1" dirty="0">
                <a:latin typeface="Arial MT"/>
              </a:rPr>
              <a:t>Implementation Details: </a:t>
            </a:r>
            <a:r>
              <a:rPr lang="en-GB" dirty="0">
                <a:latin typeface="Arial MT"/>
              </a:rPr>
              <a:t>In Example 1, LHS is employed to systematically explore variations in critical vehicle dynamics parameters—mass, time gap, standstill distance, and communication delay. This ensures that each parameter is sampled across its entire range, avoiding clustering and providing a robust dataset for simulations.</a:t>
            </a:r>
          </a:p>
          <a:p>
            <a:pPr marL="285750" indent="-285750">
              <a:buFont typeface="Wingdings" panose="05000000000000000000" pitchFamily="2" charset="2"/>
              <a:buChar char="v"/>
            </a:pPr>
            <a:endParaRPr lang="en-GB" dirty="0">
              <a:latin typeface="Arial MT"/>
            </a:endParaRPr>
          </a:p>
          <a:p>
            <a:pPr marL="285750" indent="-285750">
              <a:buFont typeface="Wingdings" panose="05000000000000000000" pitchFamily="2" charset="2"/>
              <a:buChar char="v"/>
            </a:pPr>
            <a:r>
              <a:rPr lang="en-GB" sz="1800" b="1" dirty="0">
                <a:latin typeface="Arial MT"/>
              </a:rPr>
              <a:t>Number of Simulations:</a:t>
            </a:r>
            <a:br>
              <a:rPr lang="en-GB" sz="1800" dirty="0">
                <a:latin typeface="Arial MT"/>
              </a:rPr>
            </a:br>
            <a:r>
              <a:rPr lang="en-GB" sz="1800" dirty="0">
                <a:latin typeface="Arial MT"/>
              </a:rPr>
              <a:t>Model A: 200</a:t>
            </a:r>
            <a:br>
              <a:rPr lang="en-GB" sz="1800" dirty="0">
                <a:latin typeface="Arial MT"/>
              </a:rPr>
            </a:br>
            <a:r>
              <a:rPr lang="en-GB" sz="1800" dirty="0">
                <a:latin typeface="Arial MT"/>
              </a:rPr>
              <a:t>Model B: 300</a:t>
            </a:r>
          </a:p>
          <a:p>
            <a:pPr marL="285750" indent="-285750">
              <a:buFont typeface="Wingdings" panose="05000000000000000000" pitchFamily="2" charset="2"/>
              <a:buChar char="v"/>
            </a:pPr>
            <a:endParaRPr lang="en-GB" dirty="0">
              <a:latin typeface="Arial MT"/>
            </a:endParaRPr>
          </a:p>
          <a:p>
            <a:endParaRPr lang="en-GB" dirty="0">
              <a:latin typeface="Arial MT"/>
            </a:endParaRPr>
          </a:p>
        </p:txBody>
      </p:sp>
    </p:spTree>
    <p:extLst>
      <p:ext uri="{BB962C8B-B14F-4D97-AF65-F5344CB8AC3E}">
        <p14:creationId xmlns:p14="http://schemas.microsoft.com/office/powerpoint/2010/main" val="409858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562070-26D3-1639-C3E8-97884002AD5A}"/>
              </a:ext>
            </a:extLst>
          </p:cNvPr>
          <p:cNvSpPr>
            <a:spLocks noGrp="1"/>
          </p:cNvSpPr>
          <p:nvPr>
            <p:ph type="title"/>
          </p:nvPr>
        </p:nvSpPr>
        <p:spPr>
          <a:xfrm>
            <a:off x="683465" y="228600"/>
            <a:ext cx="10820909" cy="1169551"/>
          </a:xfrm>
        </p:spPr>
        <p:txBody>
          <a:bodyPr/>
          <a:lstStyle/>
          <a:p>
            <a:r>
              <a:rPr lang="en-IN" sz="2800" u="sng" dirty="0">
                <a:latin typeface="Arial MT"/>
              </a:rPr>
              <a:t>Example 1:</a:t>
            </a:r>
            <a:br>
              <a:rPr lang="en-IN" u="sng" dirty="0">
                <a:latin typeface="Arial MT"/>
              </a:rPr>
            </a:br>
            <a:endParaRPr lang="en-GB" dirty="0">
              <a:latin typeface="Arial MT"/>
            </a:endParaRPr>
          </a:p>
        </p:txBody>
      </p:sp>
      <p:sp>
        <p:nvSpPr>
          <p:cNvPr id="2" name="TextBox 1">
            <a:extLst>
              <a:ext uri="{FF2B5EF4-FFF2-40B4-BE49-F238E27FC236}">
                <a16:creationId xmlns:a16="http://schemas.microsoft.com/office/drawing/2014/main" id="{314B500F-894B-57F1-23A8-11E6E1502623}"/>
              </a:ext>
            </a:extLst>
          </p:cNvPr>
          <p:cNvSpPr txBox="1"/>
          <p:nvPr/>
        </p:nvSpPr>
        <p:spPr>
          <a:xfrm>
            <a:off x="2285999" y="1353950"/>
            <a:ext cx="762001" cy="523220"/>
          </a:xfrm>
          <a:prstGeom prst="rect">
            <a:avLst/>
          </a:prstGeom>
          <a:noFill/>
        </p:spPr>
        <p:txBody>
          <a:bodyPr wrap="square">
            <a:spAutoFit/>
          </a:bodyPr>
          <a:lstStyle/>
          <a:p>
            <a:r>
              <a:rPr lang="en-US" sz="2800" u="sng" dirty="0">
                <a:latin typeface="Arial MT"/>
              </a:rPr>
              <a:t>A</a:t>
            </a:r>
            <a:endParaRPr lang="en-GB" sz="2800" u="sng" dirty="0">
              <a:latin typeface="Arial MT"/>
            </a:endParaRPr>
          </a:p>
        </p:txBody>
      </p:sp>
      <p:sp>
        <p:nvSpPr>
          <p:cNvPr id="4" name="TextBox 3">
            <a:extLst>
              <a:ext uri="{FF2B5EF4-FFF2-40B4-BE49-F238E27FC236}">
                <a16:creationId xmlns:a16="http://schemas.microsoft.com/office/drawing/2014/main" id="{99D6A900-BF34-7C73-D3EC-FB41B5D2D4B6}"/>
              </a:ext>
            </a:extLst>
          </p:cNvPr>
          <p:cNvSpPr txBox="1"/>
          <p:nvPr/>
        </p:nvSpPr>
        <p:spPr>
          <a:xfrm>
            <a:off x="584198" y="1064995"/>
            <a:ext cx="8695267" cy="369332"/>
          </a:xfrm>
          <a:prstGeom prst="rect">
            <a:avLst/>
          </a:prstGeom>
          <a:noFill/>
        </p:spPr>
        <p:txBody>
          <a:bodyPr wrap="square">
            <a:spAutoFit/>
          </a:bodyPr>
          <a:lstStyle/>
          <a:p>
            <a:r>
              <a:rPr lang="en-GB" b="1" dirty="0">
                <a:latin typeface="Arial MT"/>
              </a:rPr>
              <a:t>Model B: </a:t>
            </a:r>
            <a:r>
              <a:rPr lang="en-GB" dirty="0">
                <a:latin typeface="Arial MT"/>
              </a:rPr>
              <a:t>Changed the variables considered and varied their variation ranges </a:t>
            </a:r>
          </a:p>
        </p:txBody>
      </p:sp>
      <p:sp>
        <p:nvSpPr>
          <p:cNvPr id="10" name="TextBox 9">
            <a:extLst>
              <a:ext uri="{FF2B5EF4-FFF2-40B4-BE49-F238E27FC236}">
                <a16:creationId xmlns:a16="http://schemas.microsoft.com/office/drawing/2014/main" id="{6CD19770-6425-565E-20C3-8B16D3213AA7}"/>
              </a:ext>
            </a:extLst>
          </p:cNvPr>
          <p:cNvSpPr txBox="1"/>
          <p:nvPr/>
        </p:nvSpPr>
        <p:spPr>
          <a:xfrm>
            <a:off x="584198" y="740719"/>
            <a:ext cx="6096000" cy="369332"/>
          </a:xfrm>
          <a:prstGeom prst="rect">
            <a:avLst/>
          </a:prstGeom>
          <a:noFill/>
        </p:spPr>
        <p:txBody>
          <a:bodyPr wrap="square">
            <a:spAutoFit/>
          </a:bodyPr>
          <a:lstStyle/>
          <a:p>
            <a:r>
              <a:rPr lang="en-GB" b="1" dirty="0">
                <a:latin typeface="Arial MT"/>
              </a:rPr>
              <a:t>Model A: </a:t>
            </a:r>
            <a:r>
              <a:rPr lang="en-GB" dirty="0">
                <a:latin typeface="Arial MT"/>
              </a:rPr>
              <a:t>Given Parameters</a:t>
            </a:r>
          </a:p>
        </p:txBody>
      </p:sp>
      <p:sp>
        <p:nvSpPr>
          <p:cNvPr id="12" name="TextBox 11">
            <a:extLst>
              <a:ext uri="{FF2B5EF4-FFF2-40B4-BE49-F238E27FC236}">
                <a16:creationId xmlns:a16="http://schemas.microsoft.com/office/drawing/2014/main" id="{0279FF2B-482C-C378-A8F9-0A4C6F80FCAB}"/>
              </a:ext>
            </a:extLst>
          </p:cNvPr>
          <p:cNvSpPr txBox="1"/>
          <p:nvPr/>
        </p:nvSpPr>
        <p:spPr>
          <a:xfrm>
            <a:off x="8224359" y="1296581"/>
            <a:ext cx="914400" cy="523220"/>
          </a:xfrm>
          <a:prstGeom prst="rect">
            <a:avLst/>
          </a:prstGeom>
          <a:noFill/>
        </p:spPr>
        <p:txBody>
          <a:bodyPr wrap="square">
            <a:spAutoFit/>
          </a:bodyPr>
          <a:lstStyle/>
          <a:p>
            <a:r>
              <a:rPr lang="en-US" sz="2800" u="sng" dirty="0">
                <a:latin typeface="Arial MT"/>
              </a:rPr>
              <a:t>B</a:t>
            </a:r>
            <a:endParaRPr lang="en-GB" sz="2800" u="sng" dirty="0">
              <a:latin typeface="Arial MT"/>
            </a:endParaRPr>
          </a:p>
        </p:txBody>
      </p:sp>
      <p:pic>
        <p:nvPicPr>
          <p:cNvPr id="14" name="Picture 13" descr="A screenshot of a computer&#10;&#10;Description automatically generated">
            <a:extLst>
              <a:ext uri="{FF2B5EF4-FFF2-40B4-BE49-F238E27FC236}">
                <a16:creationId xmlns:a16="http://schemas.microsoft.com/office/drawing/2014/main" id="{492D7048-F96F-1947-DED1-06042313F2CB}"/>
              </a:ext>
            </a:extLst>
          </p:cNvPr>
          <p:cNvPicPr>
            <a:picLocks noChangeAspect="1"/>
          </p:cNvPicPr>
          <p:nvPr/>
        </p:nvPicPr>
        <p:blipFill rotWithShape="1">
          <a:blip r:embed="rId2">
            <a:extLst>
              <a:ext uri="{28A0092B-C50C-407E-A947-70E740481C1C}">
                <a14:useLocalDpi xmlns:a14="http://schemas.microsoft.com/office/drawing/2010/main" val="0"/>
              </a:ext>
            </a:extLst>
          </a:blip>
          <a:srcRect l="10280" t="17901" r="34444" b="10525"/>
          <a:stretch/>
        </p:blipFill>
        <p:spPr>
          <a:xfrm>
            <a:off x="76200" y="1845969"/>
            <a:ext cx="5128847" cy="1861810"/>
          </a:xfrm>
          <a:prstGeom prst="rect">
            <a:avLst/>
          </a:prstGeom>
          <a:ln>
            <a:noFill/>
          </a:ln>
          <a:effectLst>
            <a:outerShdw blurRad="292100" dist="139700" dir="2700000" algn="tl" rotWithShape="0">
              <a:srgbClr val="333333">
                <a:alpha val="65000"/>
              </a:srgbClr>
            </a:outerShdw>
          </a:effectLst>
        </p:spPr>
      </p:pic>
      <p:pic>
        <p:nvPicPr>
          <p:cNvPr id="16" name="Picture 15" descr="A screenshot of a computer program&#10;&#10;Description automatically generated">
            <a:extLst>
              <a:ext uri="{FF2B5EF4-FFF2-40B4-BE49-F238E27FC236}">
                <a16:creationId xmlns:a16="http://schemas.microsoft.com/office/drawing/2014/main" id="{B2541C7E-ADD7-A21D-6330-8703D6B5E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3810000"/>
            <a:ext cx="5128847" cy="2904067"/>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1BBD116B-3BF2-ADED-A74F-DE0F10902FDD}"/>
              </a:ext>
            </a:extLst>
          </p:cNvPr>
          <p:cNvSpPr txBox="1"/>
          <p:nvPr/>
        </p:nvSpPr>
        <p:spPr>
          <a:xfrm>
            <a:off x="6248400" y="4481374"/>
            <a:ext cx="4550635" cy="523220"/>
          </a:xfrm>
          <a:prstGeom prst="rect">
            <a:avLst/>
          </a:prstGeom>
          <a:noFill/>
        </p:spPr>
        <p:txBody>
          <a:bodyPr wrap="square">
            <a:spAutoFit/>
          </a:bodyPr>
          <a:lstStyle/>
          <a:p>
            <a:r>
              <a:rPr lang="en-US" sz="2800" u="sng" dirty="0">
                <a:latin typeface="Arial MT"/>
              </a:rPr>
              <a:t>Changed Parameter Range</a:t>
            </a:r>
            <a:endParaRPr lang="en-GB" sz="2800" u="sng" dirty="0">
              <a:latin typeface="Arial MT"/>
            </a:endParaRPr>
          </a:p>
        </p:txBody>
      </p:sp>
      <p:pic>
        <p:nvPicPr>
          <p:cNvPr id="5" name="Picture 4" descr="A screenshot of a computer&#10;&#10;Description automatically generated">
            <a:extLst>
              <a:ext uri="{FF2B5EF4-FFF2-40B4-BE49-F238E27FC236}">
                <a16:creationId xmlns:a16="http://schemas.microsoft.com/office/drawing/2014/main" id="{76D731B5-A171-28B2-2AFB-EC6B66842F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1980416"/>
            <a:ext cx="5303980" cy="23243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964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7A2F9A-F8B5-61D3-4A29-9C8734905960}"/>
              </a:ext>
            </a:extLst>
          </p:cNvPr>
          <p:cNvSpPr>
            <a:spLocks noGrp="1"/>
          </p:cNvSpPr>
          <p:nvPr>
            <p:ph type="title"/>
          </p:nvPr>
        </p:nvSpPr>
        <p:spPr>
          <a:xfrm>
            <a:off x="228600" y="185369"/>
            <a:ext cx="10973816" cy="461665"/>
          </a:xfrm>
        </p:spPr>
        <p:txBody>
          <a:bodyPr/>
          <a:lstStyle/>
          <a:p>
            <a:pPr algn="ctr"/>
            <a:r>
              <a:rPr lang="en-US" sz="3000" u="sng" dirty="0">
                <a:latin typeface="Arial MT"/>
              </a:rPr>
              <a:t>Data Analysis</a:t>
            </a:r>
            <a:endParaRPr lang="en-GB" sz="3000" u="sng" dirty="0">
              <a:latin typeface="Arial MT"/>
            </a:endParaRPr>
          </a:p>
        </p:txBody>
      </p:sp>
      <p:sp>
        <p:nvSpPr>
          <p:cNvPr id="2" name="TextBox 1">
            <a:extLst>
              <a:ext uri="{FF2B5EF4-FFF2-40B4-BE49-F238E27FC236}">
                <a16:creationId xmlns:a16="http://schemas.microsoft.com/office/drawing/2014/main" id="{7B2E7FE5-0648-6254-91F5-98733A540EB1}"/>
              </a:ext>
            </a:extLst>
          </p:cNvPr>
          <p:cNvSpPr txBox="1"/>
          <p:nvPr/>
        </p:nvSpPr>
        <p:spPr>
          <a:xfrm>
            <a:off x="2362200" y="642135"/>
            <a:ext cx="762001" cy="523220"/>
          </a:xfrm>
          <a:prstGeom prst="rect">
            <a:avLst/>
          </a:prstGeom>
          <a:noFill/>
        </p:spPr>
        <p:txBody>
          <a:bodyPr wrap="square">
            <a:spAutoFit/>
          </a:bodyPr>
          <a:lstStyle/>
          <a:p>
            <a:r>
              <a:rPr lang="en-US" sz="2800" u="sng" dirty="0"/>
              <a:t>A</a:t>
            </a:r>
            <a:endParaRPr lang="en-GB" sz="2800" u="sng" dirty="0"/>
          </a:p>
        </p:txBody>
      </p:sp>
      <p:sp>
        <p:nvSpPr>
          <p:cNvPr id="4" name="TextBox 3">
            <a:extLst>
              <a:ext uri="{FF2B5EF4-FFF2-40B4-BE49-F238E27FC236}">
                <a16:creationId xmlns:a16="http://schemas.microsoft.com/office/drawing/2014/main" id="{7E19259F-562A-C36F-6B55-8F3A588F7DBD}"/>
              </a:ext>
            </a:extLst>
          </p:cNvPr>
          <p:cNvSpPr txBox="1"/>
          <p:nvPr/>
        </p:nvSpPr>
        <p:spPr>
          <a:xfrm>
            <a:off x="8382000" y="647034"/>
            <a:ext cx="914400" cy="523220"/>
          </a:xfrm>
          <a:prstGeom prst="rect">
            <a:avLst/>
          </a:prstGeom>
          <a:noFill/>
        </p:spPr>
        <p:txBody>
          <a:bodyPr wrap="square">
            <a:spAutoFit/>
          </a:bodyPr>
          <a:lstStyle/>
          <a:p>
            <a:r>
              <a:rPr lang="en-US" sz="2800" u="sng" dirty="0"/>
              <a:t>B</a:t>
            </a:r>
            <a:endParaRPr lang="en-GB" sz="2800" u="sng" dirty="0"/>
          </a:p>
        </p:txBody>
      </p:sp>
      <p:pic>
        <p:nvPicPr>
          <p:cNvPr id="6" name="Picture 5" descr="A screenshot of a computer&#10;&#10;Description automatically generated">
            <a:extLst>
              <a:ext uri="{FF2B5EF4-FFF2-40B4-BE49-F238E27FC236}">
                <a16:creationId xmlns:a16="http://schemas.microsoft.com/office/drawing/2014/main" id="{549E91D5-0FDE-AC77-2102-81A3B8B93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188" y="4038600"/>
            <a:ext cx="4267200" cy="2697688"/>
          </a:xfrm>
          <a:prstGeom prst="rect">
            <a:avLst/>
          </a:prstGeom>
          <a:ln>
            <a:noFill/>
          </a:ln>
          <a:effectLst>
            <a:outerShdw blurRad="292100" dist="139700" dir="2700000" algn="tl" rotWithShape="0">
              <a:srgbClr val="333333">
                <a:alpha val="65000"/>
              </a:srgbClr>
            </a:outerShdw>
          </a:effectLst>
        </p:spPr>
      </p:pic>
      <p:pic>
        <p:nvPicPr>
          <p:cNvPr id="8" name="Picture 7" descr="A screenshot of a computer screen&#10;&#10;Description automatically generated">
            <a:extLst>
              <a:ext uri="{FF2B5EF4-FFF2-40B4-BE49-F238E27FC236}">
                <a16:creationId xmlns:a16="http://schemas.microsoft.com/office/drawing/2014/main" id="{8A4CC051-FDF2-5101-7C59-412BCF9A15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255" y="1170254"/>
            <a:ext cx="4267200" cy="2824010"/>
          </a:xfrm>
          <a:prstGeom prst="rect">
            <a:avLst/>
          </a:prstGeom>
          <a:ln>
            <a:noFill/>
          </a:ln>
          <a:effectLst>
            <a:outerShdw blurRad="292100" dist="139700" dir="2700000" algn="tl" rotWithShape="0">
              <a:srgbClr val="333333">
                <a:alpha val="65000"/>
              </a:srgbClr>
            </a:outerShdw>
          </a:effectLst>
        </p:spPr>
      </p:pic>
      <p:pic>
        <p:nvPicPr>
          <p:cNvPr id="10" name="Picture 9" descr="A screenshot of a computer screen&#10;&#10;Description automatically generated">
            <a:extLst>
              <a:ext uri="{FF2B5EF4-FFF2-40B4-BE49-F238E27FC236}">
                <a16:creationId xmlns:a16="http://schemas.microsoft.com/office/drawing/2014/main" id="{05361018-E86A-8630-981B-5B986F2FB2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5600" y="1165355"/>
            <a:ext cx="4267200" cy="2824009"/>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CA4EE836-BA86-409B-9949-2D0E4DB2F4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07777" y="4070908"/>
            <a:ext cx="4267200" cy="2665380"/>
          </a:xfrm>
          <a:prstGeom prst="rect">
            <a:avLst/>
          </a:prstGeom>
        </p:spPr>
      </p:pic>
    </p:spTree>
    <p:extLst>
      <p:ext uri="{BB962C8B-B14F-4D97-AF65-F5344CB8AC3E}">
        <p14:creationId xmlns:p14="http://schemas.microsoft.com/office/powerpoint/2010/main" val="1518166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7A2F9A-F8B5-61D3-4A29-9C8734905960}"/>
              </a:ext>
            </a:extLst>
          </p:cNvPr>
          <p:cNvSpPr>
            <a:spLocks noGrp="1"/>
          </p:cNvSpPr>
          <p:nvPr>
            <p:ph type="title"/>
          </p:nvPr>
        </p:nvSpPr>
        <p:spPr>
          <a:xfrm>
            <a:off x="228600" y="185369"/>
            <a:ext cx="10973816" cy="492443"/>
          </a:xfrm>
        </p:spPr>
        <p:txBody>
          <a:bodyPr/>
          <a:lstStyle/>
          <a:p>
            <a:pPr algn="ctr"/>
            <a:r>
              <a:rPr lang="en-IN" sz="3200" b="1" u="sng" dirty="0">
                <a:latin typeface="Arial MT"/>
              </a:rPr>
              <a:t>Correlation of the Min Distance and Distance error</a:t>
            </a:r>
            <a:endParaRPr lang="en-GB" sz="3000" dirty="0">
              <a:latin typeface="Arial MT"/>
            </a:endParaRPr>
          </a:p>
        </p:txBody>
      </p:sp>
      <p:sp>
        <p:nvSpPr>
          <p:cNvPr id="2" name="TextBox 1">
            <a:extLst>
              <a:ext uri="{FF2B5EF4-FFF2-40B4-BE49-F238E27FC236}">
                <a16:creationId xmlns:a16="http://schemas.microsoft.com/office/drawing/2014/main" id="{7B2E7FE5-0648-6254-91F5-98733A540EB1}"/>
              </a:ext>
            </a:extLst>
          </p:cNvPr>
          <p:cNvSpPr txBox="1"/>
          <p:nvPr/>
        </p:nvSpPr>
        <p:spPr>
          <a:xfrm>
            <a:off x="2247900" y="639839"/>
            <a:ext cx="2667001" cy="523220"/>
          </a:xfrm>
          <a:prstGeom prst="rect">
            <a:avLst/>
          </a:prstGeom>
          <a:noFill/>
        </p:spPr>
        <p:txBody>
          <a:bodyPr wrap="square">
            <a:spAutoFit/>
          </a:bodyPr>
          <a:lstStyle/>
          <a:p>
            <a:r>
              <a:rPr lang="en-US" sz="2800" u="sng" dirty="0">
                <a:solidFill>
                  <a:schemeClr val="tx1"/>
                </a:solidFill>
              </a:rPr>
              <a:t>Model </a:t>
            </a:r>
            <a:r>
              <a:rPr lang="en-US" sz="2800" u="sng" dirty="0"/>
              <a:t>B</a:t>
            </a:r>
            <a:endParaRPr lang="en-GB" sz="2800" u="sng" dirty="0"/>
          </a:p>
        </p:txBody>
      </p:sp>
      <p:pic>
        <p:nvPicPr>
          <p:cNvPr id="7" name="Picture 6" descr="A screenshot of a computer screen&#10;&#10;Description automatically generated">
            <a:extLst>
              <a:ext uri="{FF2B5EF4-FFF2-40B4-BE49-F238E27FC236}">
                <a16:creationId xmlns:a16="http://schemas.microsoft.com/office/drawing/2014/main" id="{E0AAB712-690F-4D4F-EF97-ABDEC42D9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829" y="1132282"/>
            <a:ext cx="4666329" cy="2850087"/>
          </a:xfrm>
          <a:prstGeom prst="rect">
            <a:avLst/>
          </a:prstGeom>
          <a:ln>
            <a:noFill/>
          </a:ln>
          <a:effectLst>
            <a:outerShdw blurRad="292100" dist="139700" dir="2700000" algn="tl" rotWithShape="0">
              <a:srgbClr val="333333">
                <a:alpha val="65000"/>
              </a:srgbClr>
            </a:outerShdw>
          </a:effectLst>
        </p:spPr>
      </p:pic>
      <p:pic>
        <p:nvPicPr>
          <p:cNvPr id="11" name="Picture 10" descr="A screenshot of a computer screen&#10;&#10;Description automatically generated">
            <a:extLst>
              <a:ext uri="{FF2B5EF4-FFF2-40B4-BE49-F238E27FC236}">
                <a16:creationId xmlns:a16="http://schemas.microsoft.com/office/drawing/2014/main" id="{9F547038-E157-5219-71B9-A5933257C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829" y="4086698"/>
            <a:ext cx="4666329" cy="2669489"/>
          </a:xfrm>
          <a:prstGeom prst="rect">
            <a:avLst/>
          </a:prstGeom>
          <a:ln>
            <a:noFill/>
          </a:ln>
          <a:effectLst>
            <a:outerShdw blurRad="292100" dist="139700" dir="2700000" algn="tl" rotWithShape="0">
              <a:srgbClr val="333333">
                <a:alpha val="65000"/>
              </a:srgbClr>
            </a:outerShdw>
          </a:effectLst>
        </p:spPr>
      </p:pic>
      <p:pic>
        <p:nvPicPr>
          <p:cNvPr id="8" name="Picture 7" descr="A screenshot of a table&#10;&#10;Description automatically generated">
            <a:extLst>
              <a:ext uri="{FF2B5EF4-FFF2-40B4-BE49-F238E27FC236}">
                <a16:creationId xmlns:a16="http://schemas.microsoft.com/office/drawing/2014/main" id="{953C9B1A-1187-BEA2-8627-7A296F7E6C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9026" y="2615885"/>
            <a:ext cx="3292125" cy="1104996"/>
          </a:xfrm>
          <a:prstGeom prst="rect">
            <a:avLst/>
          </a:prstGeom>
          <a:ln>
            <a:noFill/>
          </a:ln>
          <a:effectLst>
            <a:outerShdw blurRad="292100" dist="139700" dir="2700000" algn="tl" rotWithShape="0">
              <a:srgbClr val="333333">
                <a:alpha val="65000"/>
              </a:srgbClr>
            </a:outerShdw>
          </a:effectLst>
        </p:spPr>
      </p:pic>
      <p:pic>
        <p:nvPicPr>
          <p:cNvPr id="10" name="Picture 9" descr="A screenshot of a table&#10;&#10;Description automatically generated">
            <a:extLst>
              <a:ext uri="{FF2B5EF4-FFF2-40B4-BE49-F238E27FC236}">
                <a16:creationId xmlns:a16="http://schemas.microsoft.com/office/drawing/2014/main" id="{CA9AC6D5-2A55-A1A5-E520-14B292C6B2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4151" y="1210151"/>
            <a:ext cx="3475021" cy="1120237"/>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00F939D7-F1C9-0234-4487-C1E33096B141}"/>
              </a:ext>
            </a:extLst>
          </p:cNvPr>
          <p:cNvSpPr txBox="1"/>
          <p:nvPr/>
        </p:nvSpPr>
        <p:spPr>
          <a:xfrm>
            <a:off x="10603831" y="2840532"/>
            <a:ext cx="762001" cy="523220"/>
          </a:xfrm>
          <a:prstGeom prst="rect">
            <a:avLst/>
          </a:prstGeom>
          <a:noFill/>
        </p:spPr>
        <p:txBody>
          <a:bodyPr wrap="square">
            <a:spAutoFit/>
          </a:bodyPr>
          <a:lstStyle/>
          <a:p>
            <a:r>
              <a:rPr lang="en-US" sz="2800" u="sng" dirty="0"/>
              <a:t>P1</a:t>
            </a:r>
            <a:endParaRPr lang="en-GB" sz="2800" u="sng" dirty="0"/>
          </a:p>
        </p:txBody>
      </p:sp>
      <p:sp>
        <p:nvSpPr>
          <p:cNvPr id="13" name="TextBox 12">
            <a:extLst>
              <a:ext uri="{FF2B5EF4-FFF2-40B4-BE49-F238E27FC236}">
                <a16:creationId xmlns:a16="http://schemas.microsoft.com/office/drawing/2014/main" id="{B676A53A-D43F-A080-3EF1-7C0698CA858F}"/>
              </a:ext>
            </a:extLst>
          </p:cNvPr>
          <p:cNvSpPr txBox="1"/>
          <p:nvPr/>
        </p:nvSpPr>
        <p:spPr>
          <a:xfrm>
            <a:off x="10603830" y="1428860"/>
            <a:ext cx="762001" cy="523220"/>
          </a:xfrm>
          <a:prstGeom prst="rect">
            <a:avLst/>
          </a:prstGeom>
          <a:noFill/>
        </p:spPr>
        <p:txBody>
          <a:bodyPr wrap="square">
            <a:spAutoFit/>
          </a:bodyPr>
          <a:lstStyle/>
          <a:p>
            <a:r>
              <a:rPr lang="en-US" sz="2800" u="sng" dirty="0"/>
              <a:t>R1</a:t>
            </a:r>
            <a:endParaRPr lang="en-GB" sz="2800" u="sng" dirty="0"/>
          </a:p>
        </p:txBody>
      </p:sp>
      <p:pic>
        <p:nvPicPr>
          <p:cNvPr id="17" name="Picture 16" descr="A screenshot of a calculator&#10;&#10;Description automatically generated">
            <a:extLst>
              <a:ext uri="{FF2B5EF4-FFF2-40B4-BE49-F238E27FC236}">
                <a16:creationId xmlns:a16="http://schemas.microsoft.com/office/drawing/2014/main" id="{8328A90D-C149-377E-BA67-A4D2F9DB32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04633" y="5477191"/>
            <a:ext cx="3414056" cy="1036410"/>
          </a:xfrm>
          <a:prstGeom prst="rect">
            <a:avLst/>
          </a:prstGeom>
          <a:ln>
            <a:noFill/>
          </a:ln>
          <a:effectLst>
            <a:outerShdw blurRad="292100" dist="139700" dir="2700000" algn="tl" rotWithShape="0">
              <a:srgbClr val="333333">
                <a:alpha val="65000"/>
              </a:srgbClr>
            </a:outerShdw>
          </a:effectLst>
        </p:spPr>
      </p:pic>
      <p:pic>
        <p:nvPicPr>
          <p:cNvPr id="19" name="Picture 18" descr="A screenshot of a table&#10;&#10;Description automatically generated">
            <a:extLst>
              <a:ext uri="{FF2B5EF4-FFF2-40B4-BE49-F238E27FC236}">
                <a16:creationId xmlns:a16="http://schemas.microsoft.com/office/drawing/2014/main" id="{6C43F3F4-AB88-8A77-E338-F72C19211B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23615" y="4086698"/>
            <a:ext cx="3505504" cy="1158340"/>
          </a:xfrm>
          <a:prstGeom prst="rect">
            <a:avLst/>
          </a:prstGeom>
          <a:ln>
            <a:noFill/>
          </a:ln>
          <a:effectLst>
            <a:outerShdw blurRad="292100" dist="139700" dir="2700000" algn="tl" rotWithShape="0">
              <a:srgbClr val="333333">
                <a:alpha val="65000"/>
              </a:srgbClr>
            </a:outerShdw>
          </a:effectLst>
        </p:spPr>
      </p:pic>
      <p:sp>
        <p:nvSpPr>
          <p:cNvPr id="20" name="TextBox 19">
            <a:extLst>
              <a:ext uri="{FF2B5EF4-FFF2-40B4-BE49-F238E27FC236}">
                <a16:creationId xmlns:a16="http://schemas.microsoft.com/office/drawing/2014/main" id="{231D96F7-72D0-7BD3-9FF5-197FB50BED5E}"/>
              </a:ext>
            </a:extLst>
          </p:cNvPr>
          <p:cNvSpPr txBox="1"/>
          <p:nvPr/>
        </p:nvSpPr>
        <p:spPr>
          <a:xfrm>
            <a:off x="10603830" y="5663260"/>
            <a:ext cx="762001" cy="523220"/>
          </a:xfrm>
          <a:prstGeom prst="rect">
            <a:avLst/>
          </a:prstGeom>
          <a:noFill/>
        </p:spPr>
        <p:txBody>
          <a:bodyPr wrap="square">
            <a:spAutoFit/>
          </a:bodyPr>
          <a:lstStyle/>
          <a:p>
            <a:r>
              <a:rPr lang="en-US" sz="2800" u="sng" dirty="0"/>
              <a:t>P2</a:t>
            </a:r>
            <a:endParaRPr lang="en-GB" sz="2800" u="sng" dirty="0"/>
          </a:p>
        </p:txBody>
      </p:sp>
      <p:sp>
        <p:nvSpPr>
          <p:cNvPr id="21" name="TextBox 20">
            <a:extLst>
              <a:ext uri="{FF2B5EF4-FFF2-40B4-BE49-F238E27FC236}">
                <a16:creationId xmlns:a16="http://schemas.microsoft.com/office/drawing/2014/main" id="{D72B82F2-49BD-8422-22C5-D74F5780F87B}"/>
              </a:ext>
            </a:extLst>
          </p:cNvPr>
          <p:cNvSpPr txBox="1"/>
          <p:nvPr/>
        </p:nvSpPr>
        <p:spPr>
          <a:xfrm>
            <a:off x="10603830" y="4382701"/>
            <a:ext cx="762001" cy="523220"/>
          </a:xfrm>
          <a:prstGeom prst="rect">
            <a:avLst/>
          </a:prstGeom>
          <a:noFill/>
        </p:spPr>
        <p:txBody>
          <a:bodyPr wrap="square">
            <a:spAutoFit/>
          </a:bodyPr>
          <a:lstStyle/>
          <a:p>
            <a:r>
              <a:rPr lang="en-US" sz="2800" u="sng" dirty="0"/>
              <a:t>R1</a:t>
            </a:r>
            <a:endParaRPr lang="en-GB" sz="2800" u="sng" dirty="0"/>
          </a:p>
        </p:txBody>
      </p:sp>
      <p:sp>
        <p:nvSpPr>
          <p:cNvPr id="22" name="TextBox 21">
            <a:extLst>
              <a:ext uri="{FF2B5EF4-FFF2-40B4-BE49-F238E27FC236}">
                <a16:creationId xmlns:a16="http://schemas.microsoft.com/office/drawing/2014/main" id="{AEA8AD9C-418C-93E3-6904-8B5D1A438954}"/>
              </a:ext>
            </a:extLst>
          </p:cNvPr>
          <p:cNvSpPr txBox="1"/>
          <p:nvPr/>
        </p:nvSpPr>
        <p:spPr>
          <a:xfrm>
            <a:off x="6797843" y="631541"/>
            <a:ext cx="3962400" cy="523220"/>
          </a:xfrm>
          <a:prstGeom prst="rect">
            <a:avLst/>
          </a:prstGeom>
          <a:noFill/>
        </p:spPr>
        <p:txBody>
          <a:bodyPr wrap="square">
            <a:spAutoFit/>
          </a:bodyPr>
          <a:lstStyle/>
          <a:p>
            <a:r>
              <a:rPr lang="en-US" sz="2800" u="sng" dirty="0">
                <a:solidFill>
                  <a:schemeClr val="tx1"/>
                </a:solidFill>
              </a:rPr>
              <a:t>Correlation Analysis</a:t>
            </a:r>
            <a:endParaRPr lang="en-GB" sz="2800" u="sng" dirty="0"/>
          </a:p>
        </p:txBody>
      </p:sp>
    </p:spTree>
    <p:extLst>
      <p:ext uri="{BB962C8B-B14F-4D97-AF65-F5344CB8AC3E}">
        <p14:creationId xmlns:p14="http://schemas.microsoft.com/office/powerpoint/2010/main" val="3216301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7A2F9A-F8B5-61D3-4A29-9C8734905960}"/>
              </a:ext>
            </a:extLst>
          </p:cNvPr>
          <p:cNvSpPr>
            <a:spLocks noGrp="1"/>
          </p:cNvSpPr>
          <p:nvPr>
            <p:ph type="title"/>
          </p:nvPr>
        </p:nvSpPr>
        <p:spPr>
          <a:xfrm>
            <a:off x="228600" y="185369"/>
            <a:ext cx="10973816" cy="492443"/>
          </a:xfrm>
        </p:spPr>
        <p:txBody>
          <a:bodyPr/>
          <a:lstStyle/>
          <a:p>
            <a:pPr algn="ctr"/>
            <a:r>
              <a:rPr lang="en-IN" sz="3200" b="1" u="sng" dirty="0">
                <a:latin typeface="Arial MT"/>
              </a:rPr>
              <a:t>Correlation of the Speed Error and </a:t>
            </a:r>
            <a:r>
              <a:rPr lang="en-IN" sz="3200" u="sng" dirty="0">
                <a:latin typeface="Arial MT"/>
              </a:rPr>
              <a:t>Min TTC</a:t>
            </a:r>
            <a:endParaRPr lang="en-GB" sz="3000" dirty="0">
              <a:latin typeface="Arial MT"/>
            </a:endParaRPr>
          </a:p>
        </p:txBody>
      </p:sp>
      <p:pic>
        <p:nvPicPr>
          <p:cNvPr id="6" name="Picture 5" descr="A screenshot of a computer&#10;&#10;Description automatically generated">
            <a:extLst>
              <a:ext uri="{FF2B5EF4-FFF2-40B4-BE49-F238E27FC236}">
                <a16:creationId xmlns:a16="http://schemas.microsoft.com/office/drawing/2014/main" id="{527BB6DA-E386-1580-AE14-CA350410F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887" y="1132279"/>
            <a:ext cx="4183497" cy="2844103"/>
          </a:xfrm>
          <a:prstGeom prst="rect">
            <a:avLst/>
          </a:prstGeom>
          <a:ln>
            <a:noFill/>
          </a:ln>
          <a:effectLst>
            <a:outerShdw blurRad="292100" dist="139700" dir="2700000" algn="tl" rotWithShape="0">
              <a:srgbClr val="333333">
                <a:alpha val="65000"/>
              </a:srgbClr>
            </a:outerShdw>
          </a:effectLst>
        </p:spPr>
      </p:pic>
      <p:pic>
        <p:nvPicPr>
          <p:cNvPr id="9" name="Picture 8" descr="A screenshot of a computer screen&#10;&#10;Description automatically generated">
            <a:extLst>
              <a:ext uri="{FF2B5EF4-FFF2-40B4-BE49-F238E27FC236}">
                <a16:creationId xmlns:a16="http://schemas.microsoft.com/office/drawing/2014/main" id="{D3A52378-44BA-870E-FC68-7DC459D1A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876" y="4034935"/>
            <a:ext cx="4259699" cy="2753286"/>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0A87A266-2FFD-1D04-3D15-83F18342506F}"/>
              </a:ext>
            </a:extLst>
          </p:cNvPr>
          <p:cNvSpPr txBox="1"/>
          <p:nvPr/>
        </p:nvSpPr>
        <p:spPr>
          <a:xfrm>
            <a:off x="2247900" y="639839"/>
            <a:ext cx="2667001" cy="523220"/>
          </a:xfrm>
          <a:prstGeom prst="rect">
            <a:avLst/>
          </a:prstGeom>
          <a:noFill/>
        </p:spPr>
        <p:txBody>
          <a:bodyPr wrap="square">
            <a:spAutoFit/>
          </a:bodyPr>
          <a:lstStyle/>
          <a:p>
            <a:r>
              <a:rPr lang="en-US" sz="2800" u="sng" dirty="0">
                <a:solidFill>
                  <a:schemeClr val="tx1"/>
                </a:solidFill>
              </a:rPr>
              <a:t>Model </a:t>
            </a:r>
            <a:r>
              <a:rPr lang="en-US" sz="2800" u="sng" dirty="0"/>
              <a:t>B</a:t>
            </a:r>
            <a:endParaRPr lang="en-GB" sz="2800" u="sng" dirty="0"/>
          </a:p>
        </p:txBody>
      </p:sp>
      <p:sp>
        <p:nvSpPr>
          <p:cNvPr id="10" name="TextBox 9">
            <a:extLst>
              <a:ext uri="{FF2B5EF4-FFF2-40B4-BE49-F238E27FC236}">
                <a16:creationId xmlns:a16="http://schemas.microsoft.com/office/drawing/2014/main" id="{5E1EE15C-E805-8259-7986-33E1F0DAFE42}"/>
              </a:ext>
            </a:extLst>
          </p:cNvPr>
          <p:cNvSpPr txBox="1"/>
          <p:nvPr/>
        </p:nvSpPr>
        <p:spPr>
          <a:xfrm>
            <a:off x="7231995" y="677812"/>
            <a:ext cx="3962400" cy="523220"/>
          </a:xfrm>
          <a:prstGeom prst="rect">
            <a:avLst/>
          </a:prstGeom>
          <a:noFill/>
        </p:spPr>
        <p:txBody>
          <a:bodyPr wrap="square">
            <a:spAutoFit/>
          </a:bodyPr>
          <a:lstStyle/>
          <a:p>
            <a:r>
              <a:rPr lang="en-US" sz="2800" u="sng" dirty="0">
                <a:solidFill>
                  <a:schemeClr val="tx1"/>
                </a:solidFill>
              </a:rPr>
              <a:t>Correlation Analysis</a:t>
            </a:r>
            <a:endParaRPr lang="en-GB" sz="2800" u="sng" dirty="0"/>
          </a:p>
        </p:txBody>
      </p:sp>
      <p:pic>
        <p:nvPicPr>
          <p:cNvPr id="13" name="Picture 12" descr="A table with numbers and a few digits&#10;&#10;Description automatically generated">
            <a:extLst>
              <a:ext uri="{FF2B5EF4-FFF2-40B4-BE49-F238E27FC236}">
                <a16:creationId xmlns:a16="http://schemas.microsoft.com/office/drawing/2014/main" id="{E89AB410-3344-85C2-D03D-9457975216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0400" y="1387969"/>
            <a:ext cx="3482642" cy="1158340"/>
          </a:xfrm>
          <a:prstGeom prst="rect">
            <a:avLst/>
          </a:prstGeom>
        </p:spPr>
      </p:pic>
      <p:pic>
        <p:nvPicPr>
          <p:cNvPr id="16" name="Picture 15" descr="A screenshot of a calculator&#10;&#10;Description automatically generated">
            <a:extLst>
              <a:ext uri="{FF2B5EF4-FFF2-40B4-BE49-F238E27FC236}">
                <a16:creationId xmlns:a16="http://schemas.microsoft.com/office/drawing/2014/main" id="{174F9D11-884C-B0AE-3808-1F345BBFDE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8503" y="2749288"/>
            <a:ext cx="3406435" cy="1066892"/>
          </a:xfrm>
          <a:prstGeom prst="rect">
            <a:avLst/>
          </a:prstGeom>
        </p:spPr>
      </p:pic>
      <p:pic>
        <p:nvPicPr>
          <p:cNvPr id="18" name="Picture 17" descr="A screenshot of a table&#10;&#10;Description automatically generated">
            <a:extLst>
              <a:ext uri="{FF2B5EF4-FFF2-40B4-BE49-F238E27FC236}">
                <a16:creationId xmlns:a16="http://schemas.microsoft.com/office/drawing/2014/main" id="{BA5F956C-0C52-E774-1D22-D287C89BCC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8503" y="4051243"/>
            <a:ext cx="3452159" cy="1150720"/>
          </a:xfrm>
          <a:prstGeom prst="rect">
            <a:avLst/>
          </a:prstGeom>
        </p:spPr>
      </p:pic>
      <p:pic>
        <p:nvPicPr>
          <p:cNvPr id="20" name="Picture 19" descr="A screenshot of a table&#10;&#10;Description automatically generated">
            <a:extLst>
              <a:ext uri="{FF2B5EF4-FFF2-40B4-BE49-F238E27FC236}">
                <a16:creationId xmlns:a16="http://schemas.microsoft.com/office/drawing/2014/main" id="{D94D5DA7-7910-1BC7-986D-8CBF03231DF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28519" y="5411578"/>
            <a:ext cx="3292125" cy="1158340"/>
          </a:xfrm>
          <a:prstGeom prst="rect">
            <a:avLst/>
          </a:prstGeom>
        </p:spPr>
      </p:pic>
      <p:sp>
        <p:nvSpPr>
          <p:cNvPr id="21" name="TextBox 20">
            <a:extLst>
              <a:ext uri="{FF2B5EF4-FFF2-40B4-BE49-F238E27FC236}">
                <a16:creationId xmlns:a16="http://schemas.microsoft.com/office/drawing/2014/main" id="{3E2D1DD5-29C4-881B-A2EA-0FE3F1C211DE}"/>
              </a:ext>
            </a:extLst>
          </p:cNvPr>
          <p:cNvSpPr txBox="1"/>
          <p:nvPr/>
        </p:nvSpPr>
        <p:spPr>
          <a:xfrm>
            <a:off x="10603831" y="2840532"/>
            <a:ext cx="762001" cy="523220"/>
          </a:xfrm>
          <a:prstGeom prst="rect">
            <a:avLst/>
          </a:prstGeom>
          <a:noFill/>
        </p:spPr>
        <p:txBody>
          <a:bodyPr wrap="square">
            <a:spAutoFit/>
          </a:bodyPr>
          <a:lstStyle/>
          <a:p>
            <a:r>
              <a:rPr lang="en-US" sz="2800" u="sng" dirty="0"/>
              <a:t>P3</a:t>
            </a:r>
            <a:endParaRPr lang="en-GB" sz="2800" u="sng" dirty="0"/>
          </a:p>
        </p:txBody>
      </p:sp>
      <p:sp>
        <p:nvSpPr>
          <p:cNvPr id="22" name="TextBox 21">
            <a:extLst>
              <a:ext uri="{FF2B5EF4-FFF2-40B4-BE49-F238E27FC236}">
                <a16:creationId xmlns:a16="http://schemas.microsoft.com/office/drawing/2014/main" id="{8CAA3284-16FA-A7CF-2F6E-EC1C7FE713D4}"/>
              </a:ext>
            </a:extLst>
          </p:cNvPr>
          <p:cNvSpPr txBox="1"/>
          <p:nvPr/>
        </p:nvSpPr>
        <p:spPr>
          <a:xfrm>
            <a:off x="10603830" y="1428860"/>
            <a:ext cx="762001" cy="523220"/>
          </a:xfrm>
          <a:prstGeom prst="rect">
            <a:avLst/>
          </a:prstGeom>
          <a:noFill/>
        </p:spPr>
        <p:txBody>
          <a:bodyPr wrap="square">
            <a:spAutoFit/>
          </a:bodyPr>
          <a:lstStyle/>
          <a:p>
            <a:r>
              <a:rPr lang="en-US" sz="2800" u="sng" dirty="0"/>
              <a:t>R3</a:t>
            </a:r>
            <a:endParaRPr lang="en-GB" sz="2800" u="sng" dirty="0"/>
          </a:p>
        </p:txBody>
      </p:sp>
      <p:sp>
        <p:nvSpPr>
          <p:cNvPr id="23" name="TextBox 22">
            <a:extLst>
              <a:ext uri="{FF2B5EF4-FFF2-40B4-BE49-F238E27FC236}">
                <a16:creationId xmlns:a16="http://schemas.microsoft.com/office/drawing/2014/main" id="{E37F67E3-1C33-D4C6-28F2-B983A2649228}"/>
              </a:ext>
            </a:extLst>
          </p:cNvPr>
          <p:cNvSpPr txBox="1"/>
          <p:nvPr/>
        </p:nvSpPr>
        <p:spPr>
          <a:xfrm>
            <a:off x="10603830" y="5663260"/>
            <a:ext cx="762001" cy="523220"/>
          </a:xfrm>
          <a:prstGeom prst="rect">
            <a:avLst/>
          </a:prstGeom>
          <a:noFill/>
        </p:spPr>
        <p:txBody>
          <a:bodyPr wrap="square">
            <a:spAutoFit/>
          </a:bodyPr>
          <a:lstStyle/>
          <a:p>
            <a:r>
              <a:rPr lang="en-US" sz="2800" u="sng" dirty="0"/>
              <a:t>P4</a:t>
            </a:r>
            <a:endParaRPr lang="en-GB" sz="2800" u="sng" dirty="0"/>
          </a:p>
        </p:txBody>
      </p:sp>
      <p:sp>
        <p:nvSpPr>
          <p:cNvPr id="24" name="TextBox 23">
            <a:extLst>
              <a:ext uri="{FF2B5EF4-FFF2-40B4-BE49-F238E27FC236}">
                <a16:creationId xmlns:a16="http://schemas.microsoft.com/office/drawing/2014/main" id="{C64B66BC-4219-23F2-A1A6-972865300825}"/>
              </a:ext>
            </a:extLst>
          </p:cNvPr>
          <p:cNvSpPr txBox="1"/>
          <p:nvPr/>
        </p:nvSpPr>
        <p:spPr>
          <a:xfrm>
            <a:off x="10603830" y="4382701"/>
            <a:ext cx="762001" cy="523220"/>
          </a:xfrm>
          <a:prstGeom prst="rect">
            <a:avLst/>
          </a:prstGeom>
          <a:noFill/>
        </p:spPr>
        <p:txBody>
          <a:bodyPr wrap="square">
            <a:spAutoFit/>
          </a:bodyPr>
          <a:lstStyle/>
          <a:p>
            <a:r>
              <a:rPr lang="en-US" sz="2800" u="sng" dirty="0"/>
              <a:t>R4</a:t>
            </a:r>
            <a:endParaRPr lang="en-GB" sz="2800" u="sng" dirty="0"/>
          </a:p>
        </p:txBody>
      </p:sp>
    </p:spTree>
    <p:extLst>
      <p:ext uri="{BB962C8B-B14F-4D97-AF65-F5344CB8AC3E}">
        <p14:creationId xmlns:p14="http://schemas.microsoft.com/office/powerpoint/2010/main" val="1078961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27423-D33C-869B-C741-446A5F95EA8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A617FB-4EBB-4F19-9749-B499791C6F10}"/>
              </a:ext>
            </a:extLst>
          </p:cNvPr>
          <p:cNvSpPr>
            <a:spLocks noGrp="1"/>
          </p:cNvSpPr>
          <p:nvPr>
            <p:ph type="title"/>
          </p:nvPr>
        </p:nvSpPr>
        <p:spPr>
          <a:xfrm>
            <a:off x="1828800" y="381000"/>
            <a:ext cx="8780442" cy="492443"/>
          </a:xfrm>
        </p:spPr>
        <p:txBody>
          <a:bodyPr/>
          <a:lstStyle/>
          <a:p>
            <a:r>
              <a:rPr lang="en-GB" sz="3200" dirty="0">
                <a:latin typeface="Arial MT"/>
              </a:rPr>
              <a:t>Sampling in Example 1 - LHS Methodology</a:t>
            </a:r>
            <a:endParaRPr lang="en-GB" sz="3200" u="sng" dirty="0">
              <a:latin typeface="Arial MT"/>
            </a:endParaRPr>
          </a:p>
        </p:txBody>
      </p:sp>
      <p:sp>
        <p:nvSpPr>
          <p:cNvPr id="13" name="TextBox 12">
            <a:extLst>
              <a:ext uri="{FF2B5EF4-FFF2-40B4-BE49-F238E27FC236}">
                <a16:creationId xmlns:a16="http://schemas.microsoft.com/office/drawing/2014/main" id="{7A6E978A-E158-F1E3-C883-046780E5EF2B}"/>
              </a:ext>
            </a:extLst>
          </p:cNvPr>
          <p:cNvSpPr txBox="1"/>
          <p:nvPr/>
        </p:nvSpPr>
        <p:spPr>
          <a:xfrm>
            <a:off x="609600" y="1295400"/>
            <a:ext cx="10744200" cy="2585323"/>
          </a:xfrm>
          <a:prstGeom prst="rect">
            <a:avLst/>
          </a:prstGeom>
          <a:noFill/>
        </p:spPr>
        <p:txBody>
          <a:bodyPr wrap="square">
            <a:spAutoFit/>
          </a:bodyPr>
          <a:lstStyle/>
          <a:p>
            <a:endParaRPr lang="en-GB" dirty="0">
              <a:latin typeface="Arial MT"/>
            </a:endParaRPr>
          </a:p>
          <a:p>
            <a:pPr marL="285750" indent="-285750">
              <a:buFont typeface="Wingdings" panose="05000000000000000000" pitchFamily="2" charset="2"/>
              <a:buChar char="v"/>
            </a:pPr>
            <a:r>
              <a:rPr lang="en-GB" b="1" dirty="0">
                <a:latin typeface="Arial MT"/>
              </a:rPr>
              <a:t>Purpose of Using LHS</a:t>
            </a:r>
            <a:r>
              <a:rPr lang="en-GB" dirty="0">
                <a:latin typeface="Arial MT"/>
              </a:rPr>
              <a:t>: The use of LHS allows for capturing a comprehensive and evenly distributed set of scenarios, enhancing the predictive power and reliability of our simulation outcomes. This method is particularly crucial given the high-dimensional nature of our parameter space.</a:t>
            </a:r>
          </a:p>
          <a:p>
            <a:endParaRPr lang="en-GB" b="1" dirty="0">
              <a:latin typeface="Arial MT"/>
            </a:endParaRPr>
          </a:p>
          <a:p>
            <a:pPr marL="285750" indent="-285750">
              <a:buFont typeface="Wingdings" panose="05000000000000000000" pitchFamily="2" charset="2"/>
              <a:buChar char="v"/>
            </a:pPr>
            <a:r>
              <a:rPr lang="en-GB" b="1" dirty="0">
                <a:latin typeface="Arial MT"/>
              </a:rPr>
              <a:t>Outcome: </a:t>
            </a:r>
            <a:r>
              <a:rPr lang="en-GB" dirty="0">
                <a:latin typeface="Arial MT"/>
              </a:rPr>
              <a:t>The application of LHS in Code 1 has enabled efficient and effective assessment of automated vehicle </a:t>
            </a:r>
            <a:r>
              <a:rPr lang="en-GB" dirty="0" err="1">
                <a:latin typeface="Arial MT"/>
              </a:rPr>
              <a:t>behaviors</a:t>
            </a:r>
            <a:r>
              <a:rPr lang="en-GB" dirty="0">
                <a:latin typeface="Arial MT"/>
              </a:rPr>
              <a:t> under a wide array of operational conditions, leading to valuable insights into system performance and safety margins.“</a:t>
            </a:r>
          </a:p>
          <a:p>
            <a:pPr marL="285750" indent="-285750">
              <a:buFont typeface="Wingdings" panose="05000000000000000000" pitchFamily="2" charset="2"/>
              <a:buChar char="v"/>
            </a:pPr>
            <a:endParaRPr lang="en-GB" dirty="0">
              <a:latin typeface="Arial MT"/>
            </a:endParaRPr>
          </a:p>
        </p:txBody>
      </p:sp>
    </p:spTree>
    <p:extLst>
      <p:ext uri="{BB962C8B-B14F-4D97-AF65-F5344CB8AC3E}">
        <p14:creationId xmlns:p14="http://schemas.microsoft.com/office/powerpoint/2010/main" val="2503156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562070-26D3-1639-C3E8-97884002AD5A}"/>
              </a:ext>
            </a:extLst>
          </p:cNvPr>
          <p:cNvSpPr>
            <a:spLocks noGrp="1"/>
          </p:cNvSpPr>
          <p:nvPr>
            <p:ph type="title"/>
          </p:nvPr>
        </p:nvSpPr>
        <p:spPr>
          <a:xfrm>
            <a:off x="683465" y="228600"/>
            <a:ext cx="10820909" cy="1169551"/>
          </a:xfrm>
        </p:spPr>
        <p:txBody>
          <a:bodyPr/>
          <a:lstStyle/>
          <a:p>
            <a:r>
              <a:rPr lang="en-IN" sz="2800" u="sng" dirty="0"/>
              <a:t>Example 2:</a:t>
            </a:r>
            <a:br>
              <a:rPr lang="en-IN" u="sng" dirty="0"/>
            </a:br>
            <a:endParaRPr lang="en-GB" dirty="0"/>
          </a:p>
        </p:txBody>
      </p:sp>
      <p:sp>
        <p:nvSpPr>
          <p:cNvPr id="2" name="TextBox 1">
            <a:extLst>
              <a:ext uri="{FF2B5EF4-FFF2-40B4-BE49-F238E27FC236}">
                <a16:creationId xmlns:a16="http://schemas.microsoft.com/office/drawing/2014/main" id="{314B500F-894B-57F1-23A8-11E6E1502623}"/>
              </a:ext>
            </a:extLst>
          </p:cNvPr>
          <p:cNvSpPr txBox="1"/>
          <p:nvPr/>
        </p:nvSpPr>
        <p:spPr>
          <a:xfrm>
            <a:off x="2360238" y="652245"/>
            <a:ext cx="762001" cy="523220"/>
          </a:xfrm>
          <a:prstGeom prst="rect">
            <a:avLst/>
          </a:prstGeom>
          <a:noFill/>
        </p:spPr>
        <p:txBody>
          <a:bodyPr wrap="square">
            <a:spAutoFit/>
          </a:bodyPr>
          <a:lstStyle/>
          <a:p>
            <a:r>
              <a:rPr lang="en-US" sz="2800" u="sng" dirty="0"/>
              <a:t>A</a:t>
            </a:r>
            <a:endParaRPr lang="en-GB" sz="2800" u="sng" dirty="0"/>
          </a:p>
        </p:txBody>
      </p:sp>
      <p:sp>
        <p:nvSpPr>
          <p:cNvPr id="12" name="TextBox 11">
            <a:extLst>
              <a:ext uri="{FF2B5EF4-FFF2-40B4-BE49-F238E27FC236}">
                <a16:creationId xmlns:a16="http://schemas.microsoft.com/office/drawing/2014/main" id="{0279FF2B-482C-C378-A8F9-0A4C6F80FCAB}"/>
              </a:ext>
            </a:extLst>
          </p:cNvPr>
          <p:cNvSpPr txBox="1"/>
          <p:nvPr/>
        </p:nvSpPr>
        <p:spPr>
          <a:xfrm>
            <a:off x="8308477" y="652245"/>
            <a:ext cx="914400" cy="523220"/>
          </a:xfrm>
          <a:prstGeom prst="rect">
            <a:avLst/>
          </a:prstGeom>
          <a:noFill/>
        </p:spPr>
        <p:txBody>
          <a:bodyPr wrap="square">
            <a:spAutoFit/>
          </a:bodyPr>
          <a:lstStyle/>
          <a:p>
            <a:r>
              <a:rPr lang="en-US" sz="2800" u="sng" dirty="0"/>
              <a:t>B</a:t>
            </a:r>
            <a:endParaRPr lang="en-GB" sz="2800" u="sng" dirty="0"/>
          </a:p>
        </p:txBody>
      </p:sp>
      <p:pic>
        <p:nvPicPr>
          <p:cNvPr id="11" name="Picture 10" descr="A screenshot of a computer program&#10;&#10;Description automatically generated">
            <a:extLst>
              <a:ext uri="{FF2B5EF4-FFF2-40B4-BE49-F238E27FC236}">
                <a16:creationId xmlns:a16="http://schemas.microsoft.com/office/drawing/2014/main" id="{DE9E8655-1765-4854-B222-E1E29A134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10" y="3469708"/>
            <a:ext cx="5288497" cy="3252736"/>
          </a:xfrm>
          <a:prstGeom prst="rect">
            <a:avLst/>
          </a:prstGeom>
          <a:ln>
            <a:noFill/>
          </a:ln>
          <a:effectLst>
            <a:outerShdw blurRad="292100" dist="139700" dir="2700000" algn="tl" rotWithShape="0">
              <a:srgbClr val="333333">
                <a:alpha val="65000"/>
              </a:srgbClr>
            </a:outerShdw>
          </a:effectLst>
        </p:spPr>
      </p:pic>
      <p:pic>
        <p:nvPicPr>
          <p:cNvPr id="20" name="Picture 19" descr="A screenshot of a computer&#10;&#10;Description automatically generated">
            <a:extLst>
              <a:ext uri="{FF2B5EF4-FFF2-40B4-BE49-F238E27FC236}">
                <a16:creationId xmlns:a16="http://schemas.microsoft.com/office/drawing/2014/main" id="{35AB89FE-855F-E3E7-E80A-D69764E7B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3919" y="1213565"/>
            <a:ext cx="5235394" cy="2118544"/>
          </a:xfrm>
          <a:prstGeom prst="rect">
            <a:avLst/>
          </a:prstGeom>
          <a:ln>
            <a:noFill/>
          </a:ln>
          <a:effectLst>
            <a:outerShdw blurRad="292100" dist="139700" dir="2700000" algn="tl" rotWithShape="0">
              <a:srgbClr val="333333">
                <a:alpha val="65000"/>
              </a:srgbClr>
            </a:outerShdw>
          </a:effectLst>
        </p:spPr>
      </p:pic>
      <p:pic>
        <p:nvPicPr>
          <p:cNvPr id="22" name="Picture 21" descr="A screenshot of a computer program&#10;&#10;Description automatically generated">
            <a:extLst>
              <a:ext uri="{FF2B5EF4-FFF2-40B4-BE49-F238E27FC236}">
                <a16:creationId xmlns:a16="http://schemas.microsoft.com/office/drawing/2014/main" id="{D5AA5FA6-3766-4E4D-9D39-887B69FCA5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3919" y="3469708"/>
            <a:ext cx="5235393" cy="3252736"/>
          </a:xfrm>
          <a:prstGeom prst="rect">
            <a:avLst/>
          </a:prstGeom>
          <a:ln>
            <a:noFill/>
          </a:ln>
          <a:effectLst>
            <a:outerShdw blurRad="292100" dist="139700" dir="2700000" algn="tl" rotWithShape="0">
              <a:srgbClr val="333333">
                <a:alpha val="65000"/>
              </a:srgbClr>
            </a:outerShdw>
          </a:effectLst>
        </p:spPr>
      </p:pic>
      <p:pic>
        <p:nvPicPr>
          <p:cNvPr id="24" name="Picture 23" descr="A screenshot of a computer&#10;&#10;Description automatically generated">
            <a:extLst>
              <a:ext uri="{FF2B5EF4-FFF2-40B4-BE49-F238E27FC236}">
                <a16:creationId xmlns:a16="http://schemas.microsoft.com/office/drawing/2014/main" id="{F223D83F-CCD4-C33C-13C1-A8D0B4D815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744" y="1213565"/>
            <a:ext cx="5395428" cy="19813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54258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7A2F9A-F8B5-61D3-4A29-9C8734905960}"/>
              </a:ext>
            </a:extLst>
          </p:cNvPr>
          <p:cNvSpPr>
            <a:spLocks noGrp="1"/>
          </p:cNvSpPr>
          <p:nvPr>
            <p:ph type="title"/>
          </p:nvPr>
        </p:nvSpPr>
        <p:spPr>
          <a:xfrm>
            <a:off x="228600" y="185369"/>
            <a:ext cx="10973816" cy="461665"/>
          </a:xfrm>
        </p:spPr>
        <p:txBody>
          <a:bodyPr/>
          <a:lstStyle/>
          <a:p>
            <a:pPr algn="ctr"/>
            <a:r>
              <a:rPr lang="en-US" sz="3000" u="sng" dirty="0">
                <a:latin typeface="Arial MT"/>
              </a:rPr>
              <a:t>Data Analysis</a:t>
            </a:r>
            <a:endParaRPr lang="en-GB" sz="3000" u="sng" dirty="0">
              <a:latin typeface="Arial MT"/>
            </a:endParaRPr>
          </a:p>
        </p:txBody>
      </p:sp>
      <p:sp>
        <p:nvSpPr>
          <p:cNvPr id="2" name="TextBox 1">
            <a:extLst>
              <a:ext uri="{FF2B5EF4-FFF2-40B4-BE49-F238E27FC236}">
                <a16:creationId xmlns:a16="http://schemas.microsoft.com/office/drawing/2014/main" id="{7B2E7FE5-0648-6254-91F5-98733A540EB1}"/>
              </a:ext>
            </a:extLst>
          </p:cNvPr>
          <p:cNvSpPr txBox="1"/>
          <p:nvPr/>
        </p:nvSpPr>
        <p:spPr>
          <a:xfrm>
            <a:off x="2362200" y="642135"/>
            <a:ext cx="762001" cy="523220"/>
          </a:xfrm>
          <a:prstGeom prst="rect">
            <a:avLst/>
          </a:prstGeom>
          <a:noFill/>
        </p:spPr>
        <p:txBody>
          <a:bodyPr wrap="square">
            <a:spAutoFit/>
          </a:bodyPr>
          <a:lstStyle/>
          <a:p>
            <a:r>
              <a:rPr lang="en-US" sz="2800" u="sng" dirty="0"/>
              <a:t>A</a:t>
            </a:r>
            <a:endParaRPr lang="en-GB" sz="2800" u="sng" dirty="0"/>
          </a:p>
        </p:txBody>
      </p:sp>
      <p:sp>
        <p:nvSpPr>
          <p:cNvPr id="4" name="TextBox 3">
            <a:extLst>
              <a:ext uri="{FF2B5EF4-FFF2-40B4-BE49-F238E27FC236}">
                <a16:creationId xmlns:a16="http://schemas.microsoft.com/office/drawing/2014/main" id="{7E19259F-562A-C36F-6B55-8F3A588F7DBD}"/>
              </a:ext>
            </a:extLst>
          </p:cNvPr>
          <p:cNvSpPr txBox="1"/>
          <p:nvPr/>
        </p:nvSpPr>
        <p:spPr>
          <a:xfrm>
            <a:off x="8382000" y="647034"/>
            <a:ext cx="914400" cy="523220"/>
          </a:xfrm>
          <a:prstGeom prst="rect">
            <a:avLst/>
          </a:prstGeom>
          <a:noFill/>
        </p:spPr>
        <p:txBody>
          <a:bodyPr wrap="square">
            <a:spAutoFit/>
          </a:bodyPr>
          <a:lstStyle/>
          <a:p>
            <a:r>
              <a:rPr lang="en-US" sz="2800" u="sng" dirty="0"/>
              <a:t>B</a:t>
            </a:r>
            <a:endParaRPr lang="en-GB" sz="2800" u="sng" dirty="0"/>
          </a:p>
        </p:txBody>
      </p:sp>
      <p:pic>
        <p:nvPicPr>
          <p:cNvPr id="7" name="Picture 6" descr="A screenshot of a computer&#10;&#10;Description automatically generated">
            <a:extLst>
              <a:ext uri="{FF2B5EF4-FFF2-40B4-BE49-F238E27FC236}">
                <a16:creationId xmlns:a16="http://schemas.microsoft.com/office/drawing/2014/main" id="{23CF8FE2-39BA-A788-DF00-D8DE74796F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162" y="3980179"/>
            <a:ext cx="4648200" cy="2760757"/>
          </a:xfrm>
          <a:prstGeom prst="rect">
            <a:avLst/>
          </a:prstGeom>
          <a:ln>
            <a:noFill/>
          </a:ln>
          <a:effectLst>
            <a:outerShdw blurRad="292100" dist="139700" dir="2700000" algn="tl" rotWithShape="0">
              <a:srgbClr val="333333">
                <a:alpha val="65000"/>
              </a:srgbClr>
            </a:outerShdw>
          </a:effectLst>
        </p:spPr>
      </p:pic>
      <p:pic>
        <p:nvPicPr>
          <p:cNvPr id="11" name="Picture 10" descr="A screenshot of a computer&#10;&#10;Description automatically generated">
            <a:extLst>
              <a:ext uri="{FF2B5EF4-FFF2-40B4-BE49-F238E27FC236}">
                <a16:creationId xmlns:a16="http://schemas.microsoft.com/office/drawing/2014/main" id="{79AA06E9-2E05-7B9B-6A30-3F3B4D2B2E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254" y="1135884"/>
            <a:ext cx="4681108" cy="2760757"/>
          </a:xfrm>
          <a:prstGeom prst="rect">
            <a:avLst/>
          </a:prstGeom>
          <a:ln>
            <a:noFill/>
          </a:ln>
          <a:effectLst>
            <a:outerShdw blurRad="292100" dist="139700" dir="2700000" algn="tl" rotWithShape="0">
              <a:srgbClr val="333333">
                <a:alpha val="65000"/>
              </a:srgbClr>
            </a:outerShdw>
          </a:effectLst>
        </p:spPr>
      </p:pic>
      <p:pic>
        <p:nvPicPr>
          <p:cNvPr id="14" name="Picture 13" descr="A screenshot of a computer&#10;&#10;Description automatically generated">
            <a:extLst>
              <a:ext uri="{FF2B5EF4-FFF2-40B4-BE49-F238E27FC236}">
                <a16:creationId xmlns:a16="http://schemas.microsoft.com/office/drawing/2014/main" id="{0344C63E-A40B-6B14-0F21-AFFD13C5D4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00" y="1165355"/>
            <a:ext cx="4801616" cy="2760757"/>
          </a:xfrm>
          <a:prstGeom prst="rect">
            <a:avLst/>
          </a:prstGeom>
          <a:ln>
            <a:noFill/>
          </a:ln>
          <a:effectLst>
            <a:outerShdw blurRad="292100" dist="139700" dir="2700000" algn="tl" rotWithShape="0">
              <a:srgbClr val="333333">
                <a:alpha val="65000"/>
              </a:srgbClr>
            </a:outerShdw>
          </a:effectLst>
        </p:spPr>
      </p:pic>
      <p:pic>
        <p:nvPicPr>
          <p:cNvPr id="16" name="Picture 15" descr="A screenshot of a computer&#10;&#10;Description automatically generated">
            <a:extLst>
              <a:ext uri="{FF2B5EF4-FFF2-40B4-BE49-F238E27FC236}">
                <a16:creationId xmlns:a16="http://schemas.microsoft.com/office/drawing/2014/main" id="{BB954F66-9E85-A2DB-2DE0-946073F593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0800" y="3982356"/>
            <a:ext cx="4801616" cy="2760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80046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7A2F9A-F8B5-61D3-4A29-9C8734905960}"/>
              </a:ext>
            </a:extLst>
          </p:cNvPr>
          <p:cNvSpPr>
            <a:spLocks noGrp="1"/>
          </p:cNvSpPr>
          <p:nvPr>
            <p:ph type="title"/>
          </p:nvPr>
        </p:nvSpPr>
        <p:spPr>
          <a:xfrm>
            <a:off x="228600" y="185369"/>
            <a:ext cx="10973816" cy="492443"/>
          </a:xfrm>
        </p:spPr>
        <p:txBody>
          <a:bodyPr/>
          <a:lstStyle/>
          <a:p>
            <a:pPr algn="ctr"/>
            <a:r>
              <a:rPr lang="en-IN" sz="3200" b="1" u="sng" dirty="0">
                <a:latin typeface="Arial MT"/>
              </a:rPr>
              <a:t>Correlation of the Min Distance and Min TTC</a:t>
            </a:r>
            <a:endParaRPr lang="en-GB" sz="3000" dirty="0">
              <a:latin typeface="Arial MT"/>
            </a:endParaRPr>
          </a:p>
        </p:txBody>
      </p:sp>
      <p:sp>
        <p:nvSpPr>
          <p:cNvPr id="2" name="TextBox 1">
            <a:extLst>
              <a:ext uri="{FF2B5EF4-FFF2-40B4-BE49-F238E27FC236}">
                <a16:creationId xmlns:a16="http://schemas.microsoft.com/office/drawing/2014/main" id="{7B2E7FE5-0648-6254-91F5-98733A540EB1}"/>
              </a:ext>
            </a:extLst>
          </p:cNvPr>
          <p:cNvSpPr txBox="1"/>
          <p:nvPr/>
        </p:nvSpPr>
        <p:spPr>
          <a:xfrm>
            <a:off x="2743200" y="639836"/>
            <a:ext cx="762001" cy="523220"/>
          </a:xfrm>
          <a:prstGeom prst="rect">
            <a:avLst/>
          </a:prstGeom>
          <a:noFill/>
        </p:spPr>
        <p:txBody>
          <a:bodyPr wrap="square">
            <a:spAutoFit/>
          </a:bodyPr>
          <a:lstStyle/>
          <a:p>
            <a:r>
              <a:rPr lang="en-US" sz="2800" u="sng" dirty="0"/>
              <a:t>A</a:t>
            </a:r>
            <a:endParaRPr lang="en-GB" sz="2800" u="sng" dirty="0"/>
          </a:p>
        </p:txBody>
      </p:sp>
      <p:sp>
        <p:nvSpPr>
          <p:cNvPr id="4" name="TextBox 3">
            <a:extLst>
              <a:ext uri="{FF2B5EF4-FFF2-40B4-BE49-F238E27FC236}">
                <a16:creationId xmlns:a16="http://schemas.microsoft.com/office/drawing/2014/main" id="{7E19259F-562A-C36F-6B55-8F3A588F7DBD}"/>
              </a:ext>
            </a:extLst>
          </p:cNvPr>
          <p:cNvSpPr txBox="1"/>
          <p:nvPr/>
        </p:nvSpPr>
        <p:spPr>
          <a:xfrm>
            <a:off x="8610600" y="639836"/>
            <a:ext cx="914400" cy="523220"/>
          </a:xfrm>
          <a:prstGeom prst="rect">
            <a:avLst/>
          </a:prstGeom>
          <a:noFill/>
        </p:spPr>
        <p:txBody>
          <a:bodyPr wrap="square">
            <a:spAutoFit/>
          </a:bodyPr>
          <a:lstStyle/>
          <a:p>
            <a:r>
              <a:rPr lang="en-US" sz="2800" u="sng" dirty="0"/>
              <a:t>B</a:t>
            </a:r>
            <a:endParaRPr lang="en-GB" sz="2800" u="sng" dirty="0"/>
          </a:p>
        </p:txBody>
      </p:sp>
      <p:pic>
        <p:nvPicPr>
          <p:cNvPr id="18" name="Picture 17" descr="A screenshot of a computer&#10;&#10;Description automatically generated">
            <a:extLst>
              <a:ext uri="{FF2B5EF4-FFF2-40B4-BE49-F238E27FC236}">
                <a16:creationId xmlns:a16="http://schemas.microsoft.com/office/drawing/2014/main" id="{565B7120-4FEE-721C-16B3-BA23E7BF9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1" y="3838875"/>
            <a:ext cx="5069320" cy="2827225"/>
          </a:xfrm>
          <a:prstGeom prst="rect">
            <a:avLst/>
          </a:prstGeom>
          <a:ln>
            <a:noFill/>
          </a:ln>
          <a:effectLst>
            <a:outerShdw blurRad="292100" dist="139700" dir="2700000" algn="tl" rotWithShape="0">
              <a:srgbClr val="333333">
                <a:alpha val="65000"/>
              </a:srgbClr>
            </a:outerShdw>
          </a:effectLst>
        </p:spPr>
      </p:pic>
      <p:pic>
        <p:nvPicPr>
          <p:cNvPr id="20" name="Picture 19" descr="A screenshot of a computer&#10;&#10;Description automatically generated">
            <a:extLst>
              <a:ext uri="{FF2B5EF4-FFF2-40B4-BE49-F238E27FC236}">
                <a16:creationId xmlns:a16="http://schemas.microsoft.com/office/drawing/2014/main" id="{E43F1F2A-C977-884A-3E31-40F99384F4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223554"/>
            <a:ext cx="5069321" cy="2410356"/>
          </a:xfrm>
          <a:prstGeom prst="rect">
            <a:avLst/>
          </a:prstGeom>
          <a:ln>
            <a:noFill/>
          </a:ln>
          <a:effectLst>
            <a:outerShdw blurRad="292100" dist="139700" dir="2700000" algn="tl" rotWithShape="0">
              <a:srgbClr val="333333">
                <a:alpha val="65000"/>
              </a:srgbClr>
            </a:outerShdw>
          </a:effectLst>
        </p:spPr>
      </p:pic>
      <p:pic>
        <p:nvPicPr>
          <p:cNvPr id="22" name="Picture 21" descr="A screenshot of a computer screen&#10;&#10;Description automatically generated">
            <a:extLst>
              <a:ext uri="{FF2B5EF4-FFF2-40B4-BE49-F238E27FC236}">
                <a16:creationId xmlns:a16="http://schemas.microsoft.com/office/drawing/2014/main" id="{8D542D7F-ABF7-4D9E-F668-8D8CC7A073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7980" y="1223555"/>
            <a:ext cx="5311600" cy="2410356"/>
          </a:xfrm>
          <a:prstGeom prst="rect">
            <a:avLst/>
          </a:prstGeom>
          <a:ln>
            <a:noFill/>
          </a:ln>
          <a:effectLst>
            <a:outerShdw blurRad="292100" dist="139700" dir="2700000" algn="tl" rotWithShape="0">
              <a:srgbClr val="333333">
                <a:alpha val="65000"/>
              </a:srgbClr>
            </a:outerShdw>
          </a:effectLst>
        </p:spPr>
      </p:pic>
      <p:pic>
        <p:nvPicPr>
          <p:cNvPr id="24" name="Picture 23" descr="A screenshot of a computer&#10;&#10;Description automatically generated">
            <a:extLst>
              <a:ext uri="{FF2B5EF4-FFF2-40B4-BE49-F238E27FC236}">
                <a16:creationId xmlns:a16="http://schemas.microsoft.com/office/drawing/2014/main" id="{511879BF-B022-B0C6-B03F-9C411B152E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57979" y="3838875"/>
            <a:ext cx="5311601" cy="28206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5209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562070-26D3-1639-C3E8-97884002AD5A}"/>
              </a:ext>
            </a:extLst>
          </p:cNvPr>
          <p:cNvSpPr>
            <a:spLocks noGrp="1"/>
          </p:cNvSpPr>
          <p:nvPr>
            <p:ph type="title"/>
          </p:nvPr>
        </p:nvSpPr>
        <p:spPr>
          <a:xfrm>
            <a:off x="683465" y="228600"/>
            <a:ext cx="10820909" cy="1169551"/>
          </a:xfrm>
        </p:spPr>
        <p:txBody>
          <a:bodyPr/>
          <a:lstStyle/>
          <a:p>
            <a:r>
              <a:rPr lang="en-US" sz="2800" u="sng" dirty="0">
                <a:latin typeface="Arial MT"/>
              </a:rPr>
              <a:t>Correlation Analysis</a:t>
            </a:r>
            <a:br>
              <a:rPr lang="en-IN" u="sng" dirty="0"/>
            </a:br>
            <a:endParaRPr lang="en-GB" dirty="0"/>
          </a:p>
        </p:txBody>
      </p:sp>
      <p:sp>
        <p:nvSpPr>
          <p:cNvPr id="2" name="TextBox 1">
            <a:extLst>
              <a:ext uri="{FF2B5EF4-FFF2-40B4-BE49-F238E27FC236}">
                <a16:creationId xmlns:a16="http://schemas.microsoft.com/office/drawing/2014/main" id="{314B500F-894B-57F1-23A8-11E6E1502623}"/>
              </a:ext>
            </a:extLst>
          </p:cNvPr>
          <p:cNvSpPr txBox="1"/>
          <p:nvPr/>
        </p:nvSpPr>
        <p:spPr>
          <a:xfrm>
            <a:off x="2360238" y="652245"/>
            <a:ext cx="762001" cy="523220"/>
          </a:xfrm>
          <a:prstGeom prst="rect">
            <a:avLst/>
          </a:prstGeom>
          <a:noFill/>
        </p:spPr>
        <p:txBody>
          <a:bodyPr wrap="square">
            <a:spAutoFit/>
          </a:bodyPr>
          <a:lstStyle/>
          <a:p>
            <a:r>
              <a:rPr lang="en-US" sz="2800" u="sng" dirty="0"/>
              <a:t>A</a:t>
            </a:r>
            <a:endParaRPr lang="en-GB" sz="2800" u="sng" dirty="0"/>
          </a:p>
        </p:txBody>
      </p:sp>
      <p:sp>
        <p:nvSpPr>
          <p:cNvPr id="12" name="TextBox 11">
            <a:extLst>
              <a:ext uri="{FF2B5EF4-FFF2-40B4-BE49-F238E27FC236}">
                <a16:creationId xmlns:a16="http://schemas.microsoft.com/office/drawing/2014/main" id="{0279FF2B-482C-C378-A8F9-0A4C6F80FCAB}"/>
              </a:ext>
            </a:extLst>
          </p:cNvPr>
          <p:cNvSpPr txBox="1"/>
          <p:nvPr/>
        </p:nvSpPr>
        <p:spPr>
          <a:xfrm>
            <a:off x="8796698" y="633930"/>
            <a:ext cx="914400" cy="523220"/>
          </a:xfrm>
          <a:prstGeom prst="rect">
            <a:avLst/>
          </a:prstGeom>
          <a:noFill/>
        </p:spPr>
        <p:txBody>
          <a:bodyPr wrap="square">
            <a:spAutoFit/>
          </a:bodyPr>
          <a:lstStyle/>
          <a:p>
            <a:r>
              <a:rPr lang="en-US" sz="2800" u="sng" dirty="0"/>
              <a:t>B</a:t>
            </a:r>
            <a:endParaRPr lang="en-GB" sz="2800" u="sng" dirty="0"/>
          </a:p>
        </p:txBody>
      </p:sp>
      <p:pic>
        <p:nvPicPr>
          <p:cNvPr id="3" name="Picture 2" descr="A screenshot of a computer&#10;&#10;Description automatically generated">
            <a:extLst>
              <a:ext uri="{FF2B5EF4-FFF2-40B4-BE49-F238E27FC236}">
                <a16:creationId xmlns:a16="http://schemas.microsoft.com/office/drawing/2014/main" id="{BBA74BD1-1388-3457-55F2-0F345E1B09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732393"/>
            <a:ext cx="2781541" cy="1600339"/>
          </a:xfrm>
          <a:prstGeom prst="rect">
            <a:avLst/>
          </a:prstGeom>
          <a:ln>
            <a:noFill/>
          </a:ln>
          <a:effectLst>
            <a:outerShdw blurRad="292100" dist="139700" dir="2700000" algn="tl" rotWithShape="0">
              <a:srgbClr val="333333">
                <a:alpha val="65000"/>
              </a:srgbClr>
            </a:outerShdw>
          </a:effectLst>
        </p:spPr>
      </p:pic>
      <p:pic>
        <p:nvPicPr>
          <p:cNvPr id="4" name="Picture 3" descr="A screenshot of a computer&#10;&#10;Description automatically generated">
            <a:extLst>
              <a:ext uri="{FF2B5EF4-FFF2-40B4-BE49-F238E27FC236}">
                <a16:creationId xmlns:a16="http://schemas.microsoft.com/office/drawing/2014/main" id="{8DD9890D-E31E-8615-692B-24342D2CB9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2635" y="1765809"/>
            <a:ext cx="2834886" cy="1524132"/>
          </a:xfrm>
          <a:prstGeom prst="rect">
            <a:avLst/>
          </a:prstGeom>
          <a:ln>
            <a:noFill/>
          </a:ln>
          <a:effectLst>
            <a:outerShdw blurRad="292100" dist="139700" dir="2700000" algn="tl" rotWithShape="0">
              <a:srgbClr val="333333">
                <a:alpha val="65000"/>
              </a:srgbClr>
            </a:outerShdw>
          </a:effectLst>
        </p:spPr>
      </p:pic>
      <p:pic>
        <p:nvPicPr>
          <p:cNvPr id="5" name="Picture 4" descr="A screenshot of a computer&#10;&#10;Description automatically generated">
            <a:extLst>
              <a:ext uri="{FF2B5EF4-FFF2-40B4-BE49-F238E27FC236}">
                <a16:creationId xmlns:a16="http://schemas.microsoft.com/office/drawing/2014/main" id="{993E30BA-824B-77D6-1BC7-E37F3A941D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65" y="4282080"/>
            <a:ext cx="2720576" cy="1539373"/>
          </a:xfrm>
          <a:prstGeom prst="rect">
            <a:avLst/>
          </a:prstGeom>
          <a:ln>
            <a:noFill/>
          </a:ln>
          <a:effectLst>
            <a:outerShdw blurRad="292100" dist="139700" dir="2700000" algn="tl" rotWithShape="0">
              <a:srgbClr val="333333">
                <a:alpha val="65000"/>
              </a:srgbClr>
            </a:outerShdw>
          </a:effectLst>
        </p:spPr>
      </p:pic>
      <p:pic>
        <p:nvPicPr>
          <p:cNvPr id="7" name="Picture 6" descr="A screenshot of a computer&#10;&#10;Description automatically generated">
            <a:extLst>
              <a:ext uri="{FF2B5EF4-FFF2-40B4-BE49-F238E27FC236}">
                <a16:creationId xmlns:a16="http://schemas.microsoft.com/office/drawing/2014/main" id="{E96C97C4-6DC3-38D6-999F-8481088E74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84083" y="4300586"/>
            <a:ext cx="2743438" cy="1531753"/>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ECB259EE-1777-8C62-3702-0B18B81989A9}"/>
              </a:ext>
            </a:extLst>
          </p:cNvPr>
          <p:cNvSpPr txBox="1"/>
          <p:nvPr/>
        </p:nvSpPr>
        <p:spPr>
          <a:xfrm>
            <a:off x="1447800" y="1136541"/>
            <a:ext cx="762001" cy="523220"/>
          </a:xfrm>
          <a:prstGeom prst="rect">
            <a:avLst/>
          </a:prstGeom>
          <a:noFill/>
        </p:spPr>
        <p:txBody>
          <a:bodyPr wrap="square">
            <a:spAutoFit/>
          </a:bodyPr>
          <a:lstStyle/>
          <a:p>
            <a:r>
              <a:rPr lang="en-US" sz="2800" u="sng" dirty="0"/>
              <a:t>P1</a:t>
            </a:r>
            <a:endParaRPr lang="en-GB" sz="2800" u="sng" dirty="0"/>
          </a:p>
        </p:txBody>
      </p:sp>
      <p:sp>
        <p:nvSpPr>
          <p:cNvPr id="9" name="TextBox 8">
            <a:extLst>
              <a:ext uri="{FF2B5EF4-FFF2-40B4-BE49-F238E27FC236}">
                <a16:creationId xmlns:a16="http://schemas.microsoft.com/office/drawing/2014/main" id="{6B9F5E1C-C35D-DAF3-DA3F-586FCC8D7D3C}"/>
              </a:ext>
            </a:extLst>
          </p:cNvPr>
          <p:cNvSpPr txBox="1"/>
          <p:nvPr/>
        </p:nvSpPr>
        <p:spPr>
          <a:xfrm>
            <a:off x="4174801" y="1126179"/>
            <a:ext cx="762001" cy="523220"/>
          </a:xfrm>
          <a:prstGeom prst="rect">
            <a:avLst/>
          </a:prstGeom>
          <a:noFill/>
        </p:spPr>
        <p:txBody>
          <a:bodyPr wrap="square">
            <a:spAutoFit/>
          </a:bodyPr>
          <a:lstStyle/>
          <a:p>
            <a:r>
              <a:rPr lang="en-US" sz="2800" u="sng" dirty="0"/>
              <a:t>P2</a:t>
            </a:r>
            <a:endParaRPr lang="en-GB" sz="2800" u="sng" dirty="0"/>
          </a:p>
        </p:txBody>
      </p:sp>
      <p:sp>
        <p:nvSpPr>
          <p:cNvPr id="10" name="TextBox 9">
            <a:extLst>
              <a:ext uri="{FF2B5EF4-FFF2-40B4-BE49-F238E27FC236}">
                <a16:creationId xmlns:a16="http://schemas.microsoft.com/office/drawing/2014/main" id="{44875F1B-4328-28D9-640C-BA67D5B621EB}"/>
              </a:ext>
            </a:extLst>
          </p:cNvPr>
          <p:cNvSpPr txBox="1"/>
          <p:nvPr/>
        </p:nvSpPr>
        <p:spPr>
          <a:xfrm>
            <a:off x="1310218" y="3540508"/>
            <a:ext cx="762001" cy="523220"/>
          </a:xfrm>
          <a:prstGeom prst="rect">
            <a:avLst/>
          </a:prstGeom>
          <a:noFill/>
        </p:spPr>
        <p:txBody>
          <a:bodyPr wrap="square">
            <a:spAutoFit/>
          </a:bodyPr>
          <a:lstStyle/>
          <a:p>
            <a:r>
              <a:rPr lang="en-US" sz="2800" u="sng" dirty="0"/>
              <a:t>R1</a:t>
            </a:r>
            <a:endParaRPr lang="en-GB" sz="2800" u="sng" dirty="0"/>
          </a:p>
        </p:txBody>
      </p:sp>
      <p:sp>
        <p:nvSpPr>
          <p:cNvPr id="13" name="TextBox 12">
            <a:extLst>
              <a:ext uri="{FF2B5EF4-FFF2-40B4-BE49-F238E27FC236}">
                <a16:creationId xmlns:a16="http://schemas.microsoft.com/office/drawing/2014/main" id="{DA489A0C-7B46-9AFF-EBDB-18E3695317A4}"/>
              </a:ext>
            </a:extLst>
          </p:cNvPr>
          <p:cNvSpPr txBox="1"/>
          <p:nvPr/>
        </p:nvSpPr>
        <p:spPr>
          <a:xfrm>
            <a:off x="4264524" y="3667961"/>
            <a:ext cx="762001" cy="523220"/>
          </a:xfrm>
          <a:prstGeom prst="rect">
            <a:avLst/>
          </a:prstGeom>
          <a:noFill/>
        </p:spPr>
        <p:txBody>
          <a:bodyPr wrap="square">
            <a:spAutoFit/>
          </a:bodyPr>
          <a:lstStyle/>
          <a:p>
            <a:r>
              <a:rPr lang="en-US" sz="2800" u="sng" dirty="0"/>
              <a:t>R2</a:t>
            </a:r>
            <a:endParaRPr lang="en-GB" sz="2800" u="sng" dirty="0"/>
          </a:p>
        </p:txBody>
      </p:sp>
      <p:pic>
        <p:nvPicPr>
          <p:cNvPr id="15" name="Picture 14" descr="A screenshot of a computer&#10;&#10;Description automatically generated">
            <a:extLst>
              <a:ext uri="{FF2B5EF4-FFF2-40B4-BE49-F238E27FC236}">
                <a16:creationId xmlns:a16="http://schemas.microsoft.com/office/drawing/2014/main" id="{6E6C9B61-EB0F-EAA3-22D7-7C53F12B88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52240" y="1785366"/>
            <a:ext cx="2766300" cy="1585097"/>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8DE7711E-8252-7182-D8B6-201EE4C191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96162" y="1785366"/>
            <a:ext cx="2743438" cy="1562235"/>
          </a:xfrm>
          <a:prstGeom prst="rect">
            <a:avLst/>
          </a:prstGeom>
        </p:spPr>
      </p:pic>
      <p:pic>
        <p:nvPicPr>
          <p:cNvPr id="19" name="Picture 18" descr="A screenshot of a computer&#10;&#10;Description automatically generated">
            <a:extLst>
              <a:ext uri="{FF2B5EF4-FFF2-40B4-BE49-F238E27FC236}">
                <a16:creationId xmlns:a16="http://schemas.microsoft.com/office/drawing/2014/main" id="{D4A0CAE4-BDCA-5093-1E5C-F2F452B07FA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19512" y="4300586"/>
            <a:ext cx="2751058" cy="1539373"/>
          </a:xfrm>
          <a:prstGeom prst="rect">
            <a:avLst/>
          </a:prstGeom>
        </p:spPr>
      </p:pic>
      <p:pic>
        <p:nvPicPr>
          <p:cNvPr id="23" name="Picture 22" descr="A screenshot of a computer&#10;&#10;Description automatically generated">
            <a:extLst>
              <a:ext uri="{FF2B5EF4-FFF2-40B4-BE49-F238E27FC236}">
                <a16:creationId xmlns:a16="http://schemas.microsoft.com/office/drawing/2014/main" id="{E5F7CD08-BECA-B775-4352-FE4E2B3027D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96162" y="4282080"/>
            <a:ext cx="2781541" cy="1501270"/>
          </a:xfrm>
          <a:prstGeom prst="rect">
            <a:avLst/>
          </a:prstGeom>
        </p:spPr>
      </p:pic>
      <p:sp>
        <p:nvSpPr>
          <p:cNvPr id="25" name="TextBox 24">
            <a:extLst>
              <a:ext uri="{FF2B5EF4-FFF2-40B4-BE49-F238E27FC236}">
                <a16:creationId xmlns:a16="http://schemas.microsoft.com/office/drawing/2014/main" id="{B8014769-7972-0DBE-A9DB-5680595239A3}"/>
              </a:ext>
            </a:extLst>
          </p:cNvPr>
          <p:cNvSpPr txBox="1"/>
          <p:nvPr/>
        </p:nvSpPr>
        <p:spPr>
          <a:xfrm>
            <a:off x="7396039" y="1175465"/>
            <a:ext cx="762001" cy="523220"/>
          </a:xfrm>
          <a:prstGeom prst="rect">
            <a:avLst/>
          </a:prstGeom>
          <a:noFill/>
        </p:spPr>
        <p:txBody>
          <a:bodyPr wrap="square">
            <a:spAutoFit/>
          </a:bodyPr>
          <a:lstStyle/>
          <a:p>
            <a:r>
              <a:rPr lang="en-US" sz="2800" u="sng" dirty="0"/>
              <a:t>P1</a:t>
            </a:r>
            <a:endParaRPr lang="en-GB" sz="2800" u="sng" dirty="0"/>
          </a:p>
        </p:txBody>
      </p:sp>
      <p:sp>
        <p:nvSpPr>
          <p:cNvPr id="26" name="TextBox 25">
            <a:extLst>
              <a:ext uri="{FF2B5EF4-FFF2-40B4-BE49-F238E27FC236}">
                <a16:creationId xmlns:a16="http://schemas.microsoft.com/office/drawing/2014/main" id="{E901A3DD-DF5B-2A2B-5FAE-714BBDC00CA2}"/>
              </a:ext>
            </a:extLst>
          </p:cNvPr>
          <p:cNvSpPr txBox="1"/>
          <p:nvPr/>
        </p:nvSpPr>
        <p:spPr>
          <a:xfrm>
            <a:off x="10363199" y="1171360"/>
            <a:ext cx="762001" cy="523220"/>
          </a:xfrm>
          <a:prstGeom prst="rect">
            <a:avLst/>
          </a:prstGeom>
          <a:noFill/>
        </p:spPr>
        <p:txBody>
          <a:bodyPr wrap="square">
            <a:spAutoFit/>
          </a:bodyPr>
          <a:lstStyle/>
          <a:p>
            <a:r>
              <a:rPr lang="en-US" sz="2800" u="sng" dirty="0"/>
              <a:t>P2</a:t>
            </a:r>
            <a:endParaRPr lang="en-GB" sz="2800" u="sng" dirty="0"/>
          </a:p>
        </p:txBody>
      </p:sp>
      <p:sp>
        <p:nvSpPr>
          <p:cNvPr id="27" name="TextBox 26">
            <a:extLst>
              <a:ext uri="{FF2B5EF4-FFF2-40B4-BE49-F238E27FC236}">
                <a16:creationId xmlns:a16="http://schemas.microsoft.com/office/drawing/2014/main" id="{CC51BDA8-3813-54B8-CD3E-31B223CF8D80}"/>
              </a:ext>
            </a:extLst>
          </p:cNvPr>
          <p:cNvSpPr txBox="1"/>
          <p:nvPr/>
        </p:nvSpPr>
        <p:spPr>
          <a:xfrm>
            <a:off x="7466558" y="3654072"/>
            <a:ext cx="762001" cy="523220"/>
          </a:xfrm>
          <a:prstGeom prst="rect">
            <a:avLst/>
          </a:prstGeom>
          <a:noFill/>
        </p:spPr>
        <p:txBody>
          <a:bodyPr wrap="square">
            <a:spAutoFit/>
          </a:bodyPr>
          <a:lstStyle/>
          <a:p>
            <a:r>
              <a:rPr lang="en-US" sz="2800" u="sng" dirty="0"/>
              <a:t>R1</a:t>
            </a:r>
            <a:endParaRPr lang="en-GB" sz="2800" u="sng" dirty="0"/>
          </a:p>
        </p:txBody>
      </p:sp>
      <p:sp>
        <p:nvSpPr>
          <p:cNvPr id="28" name="TextBox 27">
            <a:extLst>
              <a:ext uri="{FF2B5EF4-FFF2-40B4-BE49-F238E27FC236}">
                <a16:creationId xmlns:a16="http://schemas.microsoft.com/office/drawing/2014/main" id="{EDEC8A05-8D00-C754-288C-69B5F7ABC11C}"/>
              </a:ext>
            </a:extLst>
          </p:cNvPr>
          <p:cNvSpPr txBox="1"/>
          <p:nvPr/>
        </p:nvSpPr>
        <p:spPr>
          <a:xfrm>
            <a:off x="10363199" y="3654072"/>
            <a:ext cx="762001" cy="523220"/>
          </a:xfrm>
          <a:prstGeom prst="rect">
            <a:avLst/>
          </a:prstGeom>
          <a:noFill/>
        </p:spPr>
        <p:txBody>
          <a:bodyPr wrap="square">
            <a:spAutoFit/>
          </a:bodyPr>
          <a:lstStyle/>
          <a:p>
            <a:r>
              <a:rPr lang="en-US" sz="2800" u="sng" dirty="0"/>
              <a:t>R2</a:t>
            </a:r>
            <a:endParaRPr lang="en-GB" sz="2800" u="sng" dirty="0"/>
          </a:p>
        </p:txBody>
      </p:sp>
      <p:cxnSp>
        <p:nvCxnSpPr>
          <p:cNvPr id="18" name="Straight Connector 17">
            <a:extLst>
              <a:ext uri="{FF2B5EF4-FFF2-40B4-BE49-F238E27FC236}">
                <a16:creationId xmlns:a16="http://schemas.microsoft.com/office/drawing/2014/main" id="{9EAF3F5F-EBE2-8805-487E-209A45E2C33D}"/>
              </a:ext>
            </a:extLst>
          </p:cNvPr>
          <p:cNvCxnSpPr>
            <a:stCxn id="6" idx="0"/>
          </p:cNvCxnSpPr>
          <p:nvPr/>
        </p:nvCxnSpPr>
        <p:spPr>
          <a:xfrm flipH="1">
            <a:off x="6093919" y="228600"/>
            <a:ext cx="1" cy="632460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4838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7A2F9A-F8B5-61D3-4A29-9C8734905960}"/>
              </a:ext>
            </a:extLst>
          </p:cNvPr>
          <p:cNvSpPr>
            <a:spLocks noGrp="1"/>
          </p:cNvSpPr>
          <p:nvPr>
            <p:ph type="title"/>
          </p:nvPr>
        </p:nvSpPr>
        <p:spPr>
          <a:xfrm>
            <a:off x="762000" y="381000"/>
            <a:ext cx="10973816" cy="523220"/>
          </a:xfrm>
        </p:spPr>
        <p:txBody>
          <a:bodyPr/>
          <a:lstStyle/>
          <a:p>
            <a:r>
              <a:rPr lang="en-GB" sz="3200" dirty="0">
                <a:latin typeface="Arial MT"/>
              </a:rPr>
              <a:t>Sampling</a:t>
            </a:r>
            <a:r>
              <a:rPr lang="en-GB" sz="3400" dirty="0">
                <a:latin typeface="Arial MT"/>
              </a:rPr>
              <a:t> in Example 2 - LHS Application</a:t>
            </a:r>
            <a:endParaRPr lang="en-GB" sz="3400" u="sng" dirty="0">
              <a:latin typeface="Arial MT"/>
            </a:endParaRPr>
          </a:p>
        </p:txBody>
      </p:sp>
      <p:sp>
        <p:nvSpPr>
          <p:cNvPr id="7" name="TextBox 6">
            <a:extLst>
              <a:ext uri="{FF2B5EF4-FFF2-40B4-BE49-F238E27FC236}">
                <a16:creationId xmlns:a16="http://schemas.microsoft.com/office/drawing/2014/main" id="{70F228BE-E67C-21EC-A189-C542C15E2F71}"/>
              </a:ext>
            </a:extLst>
          </p:cNvPr>
          <p:cNvSpPr txBox="1"/>
          <p:nvPr/>
        </p:nvSpPr>
        <p:spPr>
          <a:xfrm>
            <a:off x="562779" y="1143000"/>
            <a:ext cx="11066442" cy="4708981"/>
          </a:xfrm>
          <a:prstGeom prst="rect">
            <a:avLst/>
          </a:prstGeom>
          <a:noFill/>
        </p:spPr>
        <p:txBody>
          <a:bodyPr wrap="square">
            <a:spAutoFit/>
          </a:bodyPr>
          <a:lstStyle/>
          <a:p>
            <a:endParaRPr lang="en-GB" dirty="0">
              <a:latin typeface="Arial MT"/>
            </a:endParaRPr>
          </a:p>
          <a:p>
            <a:pPr marL="285750" indent="-285750">
              <a:buFont typeface="Wingdings" panose="05000000000000000000" pitchFamily="2" charset="2"/>
              <a:buChar char="v"/>
            </a:pPr>
            <a:r>
              <a:rPr lang="en-GB" b="1" dirty="0">
                <a:latin typeface="Arial MT"/>
              </a:rPr>
              <a:t>Specifics of LHS in Example 2: </a:t>
            </a:r>
            <a:r>
              <a:rPr lang="en-GB" dirty="0">
                <a:latin typeface="Arial MT"/>
              </a:rPr>
              <a:t>Latin Hypercube Sampling in Code 2 focuses on in-depth exploration of traffic dynamics and vehicle interaction parameters, adjusting the sampling resolution to capture more subtle effects and interactions.“</a:t>
            </a:r>
          </a:p>
          <a:p>
            <a:endParaRPr lang="en-GB" dirty="0">
              <a:latin typeface="Arial MT"/>
            </a:endParaRPr>
          </a:p>
          <a:p>
            <a:pPr marL="285750" indent="-285750">
              <a:buFont typeface="Wingdings" panose="05000000000000000000" pitchFamily="2" charset="2"/>
              <a:buChar char="v"/>
            </a:pPr>
            <a:r>
              <a:rPr lang="en-GB" b="1" dirty="0">
                <a:latin typeface="Arial MT"/>
              </a:rPr>
              <a:t>Objective of Advanced Sampling: </a:t>
            </a:r>
            <a:r>
              <a:rPr lang="en-GB" dirty="0">
                <a:latin typeface="Arial MT"/>
              </a:rPr>
              <a:t>The objective is to generate a highly diversified and statistically significant dataset that can validate the ACC (Adaptive Cruise Control) algorithms under varying but precisely defined traffic conditions.“</a:t>
            </a:r>
          </a:p>
          <a:p>
            <a:endParaRPr lang="en-GB" dirty="0">
              <a:latin typeface="Arial MT"/>
            </a:endParaRPr>
          </a:p>
          <a:p>
            <a:pPr marL="342900" indent="-342900">
              <a:buFont typeface="Wingdings" panose="05000000000000000000" pitchFamily="2" charset="2"/>
              <a:buChar char="v"/>
            </a:pPr>
            <a:r>
              <a:rPr lang="en-GB" b="1" dirty="0">
                <a:latin typeface="Arial MT"/>
              </a:rPr>
              <a:t>Impact and Benefits: </a:t>
            </a:r>
            <a:r>
              <a:rPr lang="en-GB" dirty="0">
                <a:latin typeface="Arial MT"/>
              </a:rPr>
              <a:t>This LHS application supports rigorous stress-testing of the system, ensuring robustness against a broader range of scenarios and significantly contributing to the overall safety and reliability of our autonomous driving technology.“</a:t>
            </a:r>
          </a:p>
          <a:p>
            <a:endParaRPr lang="en-GB" dirty="0">
              <a:latin typeface="Arial MT"/>
            </a:endParaRPr>
          </a:p>
          <a:p>
            <a:pPr marL="285750" indent="-285750">
              <a:buFont typeface="Wingdings" panose="05000000000000000000" pitchFamily="2" charset="2"/>
              <a:buChar char="v"/>
            </a:pPr>
            <a:r>
              <a:rPr lang="en-GB" sz="1600" b="1" dirty="0">
                <a:latin typeface="Arial MT"/>
              </a:rPr>
              <a:t>Number of Simulations:</a:t>
            </a:r>
            <a:br>
              <a:rPr lang="en-GB" sz="1600" dirty="0">
                <a:latin typeface="Arial MT"/>
              </a:rPr>
            </a:br>
            <a:r>
              <a:rPr lang="en-GB" sz="1600" dirty="0">
                <a:latin typeface="Arial MT"/>
              </a:rPr>
              <a:t>Model A: 200</a:t>
            </a:r>
            <a:br>
              <a:rPr lang="en-GB" sz="1600" dirty="0">
                <a:latin typeface="Arial MT"/>
              </a:rPr>
            </a:br>
            <a:r>
              <a:rPr lang="en-GB" sz="1600" dirty="0">
                <a:latin typeface="Arial MT"/>
              </a:rPr>
              <a:t>Model B: 300</a:t>
            </a:r>
          </a:p>
          <a:p>
            <a:endParaRPr lang="en-GB" dirty="0"/>
          </a:p>
        </p:txBody>
      </p:sp>
    </p:spTree>
    <p:extLst>
      <p:ext uri="{BB962C8B-B14F-4D97-AF65-F5344CB8AC3E}">
        <p14:creationId xmlns:p14="http://schemas.microsoft.com/office/powerpoint/2010/main" val="255394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562070-26D3-1639-C3E8-97884002AD5A}"/>
              </a:ext>
            </a:extLst>
          </p:cNvPr>
          <p:cNvSpPr>
            <a:spLocks noGrp="1"/>
          </p:cNvSpPr>
          <p:nvPr>
            <p:ph type="title"/>
          </p:nvPr>
        </p:nvSpPr>
        <p:spPr>
          <a:xfrm>
            <a:off x="683465" y="228601"/>
            <a:ext cx="10820909" cy="1169551"/>
          </a:xfrm>
        </p:spPr>
        <p:txBody>
          <a:bodyPr/>
          <a:lstStyle/>
          <a:p>
            <a:r>
              <a:rPr lang="en-US" sz="2800" u="sng" dirty="0">
                <a:latin typeface="Arial MT"/>
              </a:rPr>
              <a:t>KPI of the Model</a:t>
            </a:r>
            <a:br>
              <a:rPr lang="en-IN" u="sng" dirty="0"/>
            </a:br>
            <a:endParaRPr lang="en-GB" dirty="0"/>
          </a:p>
        </p:txBody>
      </p:sp>
      <p:sp>
        <p:nvSpPr>
          <p:cNvPr id="14" name="TextBox 13">
            <a:extLst>
              <a:ext uri="{FF2B5EF4-FFF2-40B4-BE49-F238E27FC236}">
                <a16:creationId xmlns:a16="http://schemas.microsoft.com/office/drawing/2014/main" id="{C5049352-FB00-4C9F-27D6-ADADBAAEED7F}"/>
              </a:ext>
            </a:extLst>
          </p:cNvPr>
          <p:cNvSpPr txBox="1"/>
          <p:nvPr/>
        </p:nvSpPr>
        <p:spPr>
          <a:xfrm>
            <a:off x="683465" y="990600"/>
            <a:ext cx="10744200" cy="923330"/>
          </a:xfrm>
          <a:prstGeom prst="rect">
            <a:avLst/>
          </a:prstGeom>
          <a:noFill/>
        </p:spPr>
        <p:txBody>
          <a:bodyPr wrap="square">
            <a:spAutoFit/>
          </a:bodyPr>
          <a:lstStyle/>
          <a:p>
            <a:r>
              <a:rPr lang="en-GB" b="1" dirty="0">
                <a:latin typeface="Arial MT"/>
              </a:rPr>
              <a:t>Key Performance Indicator (KPIs) </a:t>
            </a:r>
            <a:r>
              <a:rPr lang="en-GB" dirty="0">
                <a:latin typeface="Arial MT"/>
              </a:rPr>
              <a:t>are crucial metrics that help us evaluate the efficacy and safety of automated driving systems under a variety of simulated conditions. They are essential for quantifying system performance and guiding further improvements.</a:t>
            </a:r>
          </a:p>
        </p:txBody>
      </p:sp>
      <p:sp>
        <p:nvSpPr>
          <p:cNvPr id="16" name="Rectangle 1">
            <a:extLst>
              <a:ext uri="{FF2B5EF4-FFF2-40B4-BE49-F238E27FC236}">
                <a16:creationId xmlns:a16="http://schemas.microsoft.com/office/drawing/2014/main" id="{625A8A5E-07EF-D603-75A6-BE0C68DA695A}"/>
              </a:ext>
            </a:extLst>
          </p:cNvPr>
          <p:cNvSpPr>
            <a:spLocks noChangeArrowheads="1"/>
          </p:cNvSpPr>
          <p:nvPr/>
        </p:nvSpPr>
        <p:spPr bwMode="auto">
          <a:xfrm>
            <a:off x="609600" y="2160151"/>
            <a:ext cx="107442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r>
              <a:rPr lang="en-GB" b="1" dirty="0">
                <a:latin typeface="Arial MT"/>
              </a:rPr>
              <a:t>Listed KPIs and Their Importance</a:t>
            </a:r>
          </a:p>
          <a:p>
            <a:endParaRPr lang="en-GB" b="1" dirty="0">
              <a:latin typeface="Arial MT"/>
            </a:endParaRPr>
          </a:p>
          <a:p>
            <a:pPr marL="285750" indent="-285750">
              <a:buFont typeface="Wingdings" panose="05000000000000000000" pitchFamily="2" charset="2"/>
              <a:buChar char="q"/>
            </a:pPr>
            <a:r>
              <a:rPr lang="en-GB" b="1" dirty="0">
                <a:latin typeface="Arial MT"/>
              </a:rPr>
              <a:t>Minimum Distance: </a:t>
            </a:r>
            <a:r>
              <a:rPr lang="en-GB" dirty="0">
                <a:latin typeface="Arial MT"/>
              </a:rPr>
              <a:t>Measures the closest approach between the ego vehicle and the leader vehicle, indicating safety margins.</a:t>
            </a:r>
          </a:p>
          <a:p>
            <a:pPr marL="285750" indent="-285750">
              <a:buFont typeface="Wingdings" panose="05000000000000000000" pitchFamily="2" charset="2"/>
              <a:buChar char="q"/>
            </a:pPr>
            <a:r>
              <a:rPr lang="en-GB" b="1" dirty="0">
                <a:latin typeface="Arial MT"/>
              </a:rPr>
              <a:t>Time to Collision (TTC): </a:t>
            </a:r>
            <a:r>
              <a:rPr lang="en-GB" dirty="0">
                <a:latin typeface="Arial MT"/>
              </a:rPr>
              <a:t>Calculates the time remaining before a collision would occur if the current speed and distance are maintained, a critical measure of response adequacy.</a:t>
            </a:r>
          </a:p>
          <a:p>
            <a:pPr marL="285750" indent="-285750">
              <a:buFont typeface="Wingdings" panose="05000000000000000000" pitchFamily="2" charset="2"/>
              <a:buChar char="q"/>
            </a:pPr>
            <a:r>
              <a:rPr lang="en-GB" b="1" dirty="0">
                <a:latin typeface="Arial MT"/>
              </a:rPr>
              <a:t>Crash Rate:</a:t>
            </a:r>
            <a:r>
              <a:rPr lang="en-GB" dirty="0">
                <a:latin typeface="Arial MT"/>
              </a:rPr>
              <a:t> Percentage of simulation runs where the minimum distance falls below a critical threshold (e.g., 0.01 meters), indicating a potential collision.</a:t>
            </a:r>
          </a:p>
          <a:p>
            <a:pPr marL="285750" indent="-285750">
              <a:buFont typeface="Wingdings" panose="05000000000000000000" pitchFamily="2" charset="2"/>
              <a:buChar char="q"/>
            </a:pPr>
            <a:r>
              <a:rPr lang="en-GB" b="1" dirty="0">
                <a:latin typeface="Arial MT"/>
              </a:rPr>
              <a:t>Danger Rate: </a:t>
            </a:r>
            <a:r>
              <a:rPr lang="en-GB" dirty="0">
                <a:latin typeface="Arial MT"/>
              </a:rPr>
              <a:t>Percentage of instances where TTC is below a critical threshold (e.g., 0.5 seconds), signalling imminent risk.</a:t>
            </a:r>
          </a:p>
        </p:txBody>
      </p:sp>
    </p:spTree>
    <p:extLst>
      <p:ext uri="{BB962C8B-B14F-4D97-AF65-F5344CB8AC3E}">
        <p14:creationId xmlns:p14="http://schemas.microsoft.com/office/powerpoint/2010/main" val="3076803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562070-26D3-1639-C3E8-97884002AD5A}"/>
              </a:ext>
            </a:extLst>
          </p:cNvPr>
          <p:cNvSpPr>
            <a:spLocks noGrp="1"/>
          </p:cNvSpPr>
          <p:nvPr>
            <p:ph type="title"/>
          </p:nvPr>
        </p:nvSpPr>
        <p:spPr>
          <a:xfrm>
            <a:off x="683465" y="228601"/>
            <a:ext cx="4269535" cy="1169551"/>
          </a:xfrm>
        </p:spPr>
        <p:txBody>
          <a:bodyPr/>
          <a:lstStyle/>
          <a:p>
            <a:r>
              <a:rPr lang="en-US" sz="2800" u="sng" dirty="0">
                <a:latin typeface="Arial MT"/>
              </a:rPr>
              <a:t>KPI Analysis Outcomes</a:t>
            </a:r>
            <a:br>
              <a:rPr lang="en-IN" u="sng" dirty="0"/>
            </a:br>
            <a:endParaRPr lang="en-GB" dirty="0"/>
          </a:p>
        </p:txBody>
      </p:sp>
      <p:sp>
        <p:nvSpPr>
          <p:cNvPr id="2" name="TextBox 1">
            <a:extLst>
              <a:ext uri="{FF2B5EF4-FFF2-40B4-BE49-F238E27FC236}">
                <a16:creationId xmlns:a16="http://schemas.microsoft.com/office/drawing/2014/main" id="{3C1E8B8F-D051-01C7-775E-9DD68D180FF1}"/>
              </a:ext>
            </a:extLst>
          </p:cNvPr>
          <p:cNvSpPr txBox="1"/>
          <p:nvPr/>
        </p:nvSpPr>
        <p:spPr>
          <a:xfrm>
            <a:off x="304800" y="762001"/>
            <a:ext cx="11429999" cy="5570756"/>
          </a:xfrm>
          <a:prstGeom prst="rect">
            <a:avLst/>
          </a:prstGeom>
          <a:noFill/>
        </p:spPr>
        <p:txBody>
          <a:bodyPr wrap="square">
            <a:spAutoFit/>
          </a:bodyPr>
          <a:lstStyle/>
          <a:p>
            <a:pPr marL="285750" indent="-285750">
              <a:buFont typeface="Wingdings" panose="05000000000000000000" pitchFamily="2" charset="2"/>
              <a:buChar char="v"/>
            </a:pPr>
            <a:r>
              <a:rPr lang="en-GB" sz="1700" b="1" dirty="0">
                <a:latin typeface="Arial MT"/>
              </a:rPr>
              <a:t>Analytical Approach:</a:t>
            </a:r>
            <a:endParaRPr lang="en-GB" sz="1700" dirty="0">
              <a:latin typeface="Arial MT"/>
            </a:endParaRPr>
          </a:p>
          <a:p>
            <a:pPr marL="742950" lvl="1" indent="-285750">
              <a:buFont typeface="Wingdings" panose="05000000000000000000" pitchFamily="2" charset="2"/>
              <a:buChar char="ü"/>
            </a:pPr>
            <a:r>
              <a:rPr lang="en-GB" sz="1700" dirty="0">
                <a:latin typeface="Arial MT"/>
              </a:rPr>
              <a:t>Our analysis involves examining the simulation outputs to calculate the frequency and conditions under which each KPI threshold is breached. This approach enables us to identify patterns and potential weaknesses in the system’s performance.</a:t>
            </a:r>
          </a:p>
          <a:p>
            <a:pPr marL="742950" lvl="1" indent="-285750">
              <a:buFont typeface="Wingdings" panose="05000000000000000000" pitchFamily="2" charset="2"/>
              <a:buChar char="ü"/>
            </a:pPr>
            <a:endParaRPr lang="en-GB" sz="1700" dirty="0">
              <a:latin typeface="Arial MT"/>
            </a:endParaRPr>
          </a:p>
          <a:p>
            <a:pPr marL="285750" indent="-285750">
              <a:buFont typeface="Wingdings" panose="05000000000000000000" pitchFamily="2" charset="2"/>
              <a:buChar char="v"/>
            </a:pPr>
            <a:r>
              <a:rPr lang="en-GB" sz="1700" b="1" dirty="0">
                <a:latin typeface="Arial MT"/>
              </a:rPr>
              <a:t>Insights from KPIs:</a:t>
            </a:r>
            <a:endParaRPr lang="en-GB" sz="1700" dirty="0">
              <a:latin typeface="Arial MT"/>
            </a:endParaRPr>
          </a:p>
          <a:p>
            <a:pPr marL="742950" lvl="1" indent="-285750">
              <a:buFont typeface="Wingdings" panose="05000000000000000000" pitchFamily="2" charset="2"/>
              <a:buChar char="ü"/>
            </a:pPr>
            <a:r>
              <a:rPr lang="en-GB" sz="1700" b="1" dirty="0">
                <a:latin typeface="Arial MT"/>
              </a:rPr>
              <a:t>Minimum Distance and TTC:</a:t>
            </a:r>
            <a:endParaRPr lang="en-GB" sz="1700" dirty="0">
              <a:latin typeface="Arial MT"/>
            </a:endParaRPr>
          </a:p>
          <a:p>
            <a:pPr marL="914400" lvl="2"/>
            <a:r>
              <a:rPr lang="en-GB" sz="1700" dirty="0">
                <a:latin typeface="Arial MT"/>
              </a:rPr>
              <a:t>These indicators help pinpoint operational inefficiencies and areas where the control system might not react optimally to prevent close encounters or collisions.</a:t>
            </a:r>
          </a:p>
          <a:p>
            <a:pPr marL="742950" lvl="1" indent="-285750">
              <a:buFont typeface="Wingdings" panose="05000000000000000000" pitchFamily="2" charset="2"/>
              <a:buChar char="ü"/>
            </a:pPr>
            <a:r>
              <a:rPr lang="en-GB" sz="1700" b="1" dirty="0">
                <a:latin typeface="Arial MT"/>
              </a:rPr>
              <a:t>Crash and Danger Rates:</a:t>
            </a:r>
            <a:endParaRPr lang="en-GB" sz="1700" dirty="0">
              <a:latin typeface="Arial MT"/>
            </a:endParaRPr>
          </a:p>
          <a:p>
            <a:pPr marL="914400" lvl="2"/>
            <a:r>
              <a:rPr lang="en-GB" sz="1700" dirty="0">
                <a:latin typeface="Arial MT"/>
              </a:rPr>
              <a:t>High rates indicate potential vulnerabilities within the system, necessitating adjustments in control algorithms or parameter settings to enhance safety.</a:t>
            </a:r>
          </a:p>
          <a:p>
            <a:pPr marL="914400" lvl="2"/>
            <a:endParaRPr lang="en-GB" sz="1700" dirty="0">
              <a:latin typeface="Arial MT"/>
            </a:endParaRPr>
          </a:p>
          <a:p>
            <a:pPr marL="285750" indent="-285750">
              <a:buFont typeface="Wingdings" panose="05000000000000000000" pitchFamily="2" charset="2"/>
              <a:buChar char="v"/>
            </a:pPr>
            <a:r>
              <a:rPr lang="en-GB" sz="1700" b="1" dirty="0">
                <a:latin typeface="Arial MT"/>
              </a:rPr>
              <a:t>Implications for System Development</a:t>
            </a:r>
          </a:p>
          <a:p>
            <a:pPr marL="285750" indent="-285750">
              <a:buFont typeface="Wingdings" panose="05000000000000000000" pitchFamily="2" charset="2"/>
              <a:buChar char="ü"/>
            </a:pPr>
            <a:r>
              <a:rPr lang="en-GB" sz="1700" b="1" dirty="0">
                <a:latin typeface="Arial MT"/>
              </a:rPr>
              <a:t> System Improvements:</a:t>
            </a:r>
            <a:endParaRPr lang="en-GB" sz="1700" dirty="0">
              <a:latin typeface="Arial MT"/>
            </a:endParaRPr>
          </a:p>
          <a:p>
            <a:pPr marL="457200" lvl="1"/>
            <a:r>
              <a:rPr lang="en-GB" sz="1700" dirty="0">
                <a:latin typeface="Arial MT"/>
              </a:rPr>
              <a:t>By understanding which parameters frequently lead to unsafe conditions, we can refine our algorithms to better handle variable driving scenarios and improve overall vehicle safety.</a:t>
            </a:r>
          </a:p>
          <a:p>
            <a:pPr marL="285750" indent="-285750">
              <a:buFont typeface="Wingdings" panose="05000000000000000000" pitchFamily="2" charset="2"/>
              <a:buChar char="ü"/>
            </a:pPr>
            <a:r>
              <a:rPr lang="en-GB" sz="1700" b="1" dirty="0">
                <a:latin typeface="Arial MT"/>
              </a:rPr>
              <a:t>Strategic Adjustments:</a:t>
            </a:r>
            <a:endParaRPr lang="en-GB" sz="1700" dirty="0">
              <a:latin typeface="Arial MT"/>
            </a:endParaRPr>
          </a:p>
          <a:p>
            <a:pPr marL="457200" lvl="1"/>
            <a:r>
              <a:rPr lang="en-GB" sz="1700" dirty="0">
                <a:latin typeface="Arial MT"/>
              </a:rPr>
              <a:t>The analysis directs our focus toward parameters that significantly influence system behaviour, guiding targeted modifications to reduce crash and danger rates.</a:t>
            </a:r>
          </a:p>
          <a:p>
            <a:pPr marL="457200" lvl="1"/>
            <a:endParaRPr lang="en-GB" sz="1600" dirty="0">
              <a:latin typeface="Arial MT"/>
            </a:endParaRPr>
          </a:p>
        </p:txBody>
      </p:sp>
    </p:spTree>
    <p:extLst>
      <p:ext uri="{BB962C8B-B14F-4D97-AF65-F5344CB8AC3E}">
        <p14:creationId xmlns:p14="http://schemas.microsoft.com/office/powerpoint/2010/main" val="672805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1000" y="2819400"/>
            <a:ext cx="3443605" cy="751488"/>
          </a:xfrm>
          <a:prstGeom prst="rect">
            <a:avLst/>
          </a:prstGeom>
        </p:spPr>
        <p:txBody>
          <a:bodyPr vert="horz" wrap="square" lIns="0" tIns="12700" rIns="0" bIns="0" rtlCol="0">
            <a:spAutoFit/>
          </a:bodyPr>
          <a:lstStyle/>
          <a:p>
            <a:pPr marL="12700">
              <a:lnSpc>
                <a:spcPct val="100000"/>
              </a:lnSpc>
              <a:spcBef>
                <a:spcPts val="100"/>
              </a:spcBef>
            </a:pPr>
            <a:r>
              <a:rPr spc="-10" dirty="0">
                <a:latin typeface="Arial MT"/>
              </a:rPr>
              <a:t>Thank</a:t>
            </a:r>
            <a:r>
              <a:rPr spc="-270" dirty="0">
                <a:latin typeface="Arial MT"/>
              </a:rPr>
              <a:t> </a:t>
            </a:r>
            <a:r>
              <a:rPr spc="-484" dirty="0">
                <a:latin typeface="Arial MT"/>
              </a:rPr>
              <a:t>Y</a:t>
            </a:r>
            <a:r>
              <a:rPr spc="40" dirty="0">
                <a:latin typeface="Arial MT"/>
              </a:rPr>
              <a:t>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1398</TotalTime>
  <Words>1069</Words>
  <Application>Microsoft Office PowerPoint</Application>
  <PresentationFormat>Widescreen</PresentationFormat>
  <Paragraphs>120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 MT</vt:lpstr>
      <vt:lpstr>Times New Roman</vt:lpstr>
      <vt:lpstr>Wingdings</vt:lpstr>
      <vt:lpstr>Office Theme</vt:lpstr>
      <vt:lpstr>Enhancing Automated Driving Systems Through Advanced Testing and Validation"</vt:lpstr>
      <vt:lpstr>Aim of the project </vt:lpstr>
      <vt:lpstr> </vt:lpstr>
      <vt:lpstr>Sampling in Example 1 - LHS Methodology</vt:lpstr>
      <vt:lpstr>Example 1: </vt:lpstr>
      <vt:lpstr>Data Analysis</vt:lpstr>
      <vt:lpstr>Correlation of the Min Distance and Distance error</vt:lpstr>
      <vt:lpstr>Correlation of the Speed Error and Min TTC</vt:lpstr>
      <vt:lpstr>Sampling in Example 1 - LHS Methodology</vt:lpstr>
      <vt:lpstr>Example 2: </vt:lpstr>
      <vt:lpstr>Data Analysis</vt:lpstr>
      <vt:lpstr>Correlation of the Min Distance and Min TTC</vt:lpstr>
      <vt:lpstr>Correlation Analysis </vt:lpstr>
      <vt:lpstr>Sampling in Example 2 - LHS Application</vt:lpstr>
      <vt:lpstr>KPI of the Model </vt:lpstr>
      <vt:lpstr>KPI Analysis Outcomes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Vehicles Presentation</dc:title>
  <cp:lastModifiedBy>Sudip Kishan Sarker</cp:lastModifiedBy>
  <cp:revision>25</cp:revision>
  <dcterms:created xsi:type="dcterms:W3CDTF">2024-05-30T17:20:27Z</dcterms:created>
  <dcterms:modified xsi:type="dcterms:W3CDTF">2024-11-18T01:18:27Z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2018-04-09T00:00:00Z</vt:filetime>
  </property>
  <property fmtid="{D5CDD505-2E9C-101B-9397-08002B2CF9AE}" pid="3" name="Creator">
    <vt:lpwstr>Microsoft® PowerPoint® 2010</vt:lpwstr>
  </property>
  <property fmtid="{D5CDD505-2E9C-101B-9397-08002B2CF9AE}" pid="4" name="LastSaved">
    <vt:filetime>2024-05-30T00:00:00Z</vt:filetime>
  </property>
  <property fmtid="{D5CDD505-2E9C-101B-9397-08002B2CF9AE}" pid="5" name="Producer">
    <vt:lpwstr>Microsoft® PowerPoint® 2010</vt:lpwstr>
  </property>
</Properties>
</file>